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SME-Operating-Agent-Business-Proposal-UPDATED.docx; docs/mvp.md. Mascot asset from the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Executive Summary; SMYA guidelines page 4; docs/mvp.md. Artifact count follows the current MVP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Problem and Opportunity; SMYA guidelines page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Current Workflow and Consequence table. Baselines are explicitly treated as assumptions to validate, consistent with SMYA evidence-based proposal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Proposed Solution and One Operating Loop; docs/mvp.md for read-only and projection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docs/mvp.md, including the graph and Date-View Planner projection boundaries; updated proposal Company Context and Date-View Planner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updated proposal Meeting Actions and prototype proof. Claims remain limited to the prototype module and user-controlled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docs/mvp.md Knowledge gaps and hiring proposals; updated proposal Knowledge-Gap Hiring and Recruiting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Business Value and Outcomes; SMYA guidelines page 6. Unsupported dollar-savings claims were intentionally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Business Value and Outcomes and Technical Foundations; docs/mvp.md for architecture and claim boundaries; SMYA guidelines pages 7 and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updated proposal Path to Scale and Closing Case; SMYA guidelines pages 4, 8, 9,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7E615-6652-4868-8E97-9A73D6903561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581150" cy="304800"/>
          </a:xfrm>
          <a:prstGeom prst="roundRect">
            <a:avLst>
              <a:gd name="adj" fmla="val 50000"/>
            </a:avLst>
          </a:prstGeom>
          <a:solidFill>
            <a:srgbClr val="11755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3D293-80B6-4800-91F9-2650E9B1DF4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90550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Kaki.ai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FFF33-B2E3-472B-AEA8-728ED6069BE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SME Best Buddy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2DDDB-B955-4DA5-B2BF-6AC5592337C2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 i="0">
                <a:solidFill>
                  <a:srgbClr val="D6E0D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6E0DC"/>
                </a:solidFill>
                <a:latin typeface="Arial"/>
                <a:ea typeface="Arial"/>
                <a:cs typeface="Arial"/>
              </a:rPr>
              <a:t>The SME Operating Agent for company context, meeting follow-up, and structured hiring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74AA505-D0F2-4A98-A230-B6228D493F68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6191250" cy="0"/>
          </a:xfrm>
          <a:prstGeom prst="line">
            <a:avLst/>
          </a:prstGeom>
          <a:noFill/>
          <a:ln w="38100">
            <a:solidFill>
              <a:srgbClr val="EF6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3B9D3-5370-437A-A947-958352C469B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666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B7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7C5C0"/>
                </a:solidFill>
                <a:latin typeface="Arial"/>
                <a:ea typeface="Arial"/>
                <a:cs typeface="Arial"/>
              </a:rPr>
              <a:t>Stellar Ark AI  |  Team 71MQDJ1M  |  Show Me Your Agents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DA0A21-83B6-4896-800B-A908DF270A0D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Initial slide draft</a:t>
            </a:r>
          </a:p>
        </p:txBody>
      </p:sp>
    </p:spTree>
    <p:extLst>
      <p:ext uri="{BB962C8B-B14F-4D97-AF65-F5344CB8AC3E}">
        <p14:creationId xmlns:p14="http://schemas.microsoft.com/office/powerpoint/2010/main" val="122544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A60E43-47E6-4D52-8F84-5107C2E9220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BUSINESS CASE AT A GLANCE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8CE38B-CF0B-4470-9C12-56B9481135D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One connected assistant protects execution capacity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BAE1286-5FF1-4A7E-80D3-46709DC7C453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F70B1-81AF-4FCF-8EF6-29B776DA250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763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Stellar Ark AI employees and founders spend valuable time rebuilding context, converting meetings into follow-up, and coordinating hiring.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BBFD2-439E-4319-8029-DE2011D89FC1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09625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connects those tasks around inspectable Company Evidence. It prepares the next step while the employee retains control over every consequential handoff.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8FD76-227B-49FB-A463-FCAB401C8B21}"/>
              </a:ext>
            </a:extLst>
          </p:cNvPr>
          <p:cNvSpPr>
            <a:spLocks noGrp="1"/>
          </p:cNvSpPr>
          <p:nvPr/>
        </p:nvSpPr>
        <p:spPr>
          <a:xfrm>
            <a:off x="9124950" y="1809750"/>
            <a:ext cx="2076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9393F-2F42-49D8-9435-8B7D404EDDF6}"/>
              </a:ext>
            </a:extLst>
          </p:cNvPr>
          <p:cNvSpPr>
            <a:spLocks noGrp="1"/>
          </p:cNvSpPr>
          <p:nvPr/>
        </p:nvSpPr>
        <p:spPr>
          <a:xfrm>
            <a:off x="9124950" y="2076450"/>
            <a:ext cx="20764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4AC42-CAA8-4592-834B-E4CFDCCB02C2}"/>
              </a:ext>
            </a:extLst>
          </p:cNvPr>
          <p:cNvSpPr>
            <a:spLocks noGrp="1"/>
          </p:cNvSpPr>
          <p:nvPr/>
        </p:nvSpPr>
        <p:spPr>
          <a:xfrm>
            <a:off x="9124950" y="2647950"/>
            <a:ext cx="2076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employee personas with scoped context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C1DCD-8444-4637-99C9-4E69B1C86B92}"/>
              </a:ext>
            </a:extLst>
          </p:cNvPr>
          <p:cNvSpPr>
            <a:spLocks noGrp="1"/>
          </p:cNvSpPr>
          <p:nvPr/>
        </p:nvSpPr>
        <p:spPr>
          <a:xfrm>
            <a:off x="9124950" y="3448050"/>
            <a:ext cx="20764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6A647-BA7E-48FC-8C26-69C7EFB09700}"/>
              </a:ext>
            </a:extLst>
          </p:cNvPr>
          <p:cNvSpPr>
            <a:spLocks noGrp="1"/>
          </p:cNvSpPr>
          <p:nvPr/>
        </p:nvSpPr>
        <p:spPr>
          <a:xfrm>
            <a:off x="9124950" y="3714750"/>
            <a:ext cx="20764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4,988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86C53-3A68-4E30-9502-6FF9E246B51D}"/>
              </a:ext>
            </a:extLst>
          </p:cNvPr>
          <p:cNvSpPr>
            <a:spLocks noGrp="1"/>
          </p:cNvSpPr>
          <p:nvPr/>
        </p:nvSpPr>
        <p:spPr>
          <a:xfrm>
            <a:off x="9124950" y="4286250"/>
            <a:ext cx="2076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synthetic employee-visible artifacts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476894E-590B-41F5-ABD4-F56C6F8DC870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10515600" cy="0"/>
          </a:xfrm>
          <a:prstGeom prst="line">
            <a:avLst/>
          </a:prstGeom>
          <a:noFill/>
          <a:ln w="11430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01E493-684A-40AA-9704-C6C990EBEDF1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17EDC-EE6B-466A-BD8F-B81CF11A9DB7}"/>
              </a:ext>
            </a:extLst>
          </p:cNvPr>
          <p:cNvSpPr>
            <a:spLocks noGrp="1"/>
          </p:cNvSpPr>
          <p:nvPr/>
        </p:nvSpPr>
        <p:spPr>
          <a:xfrm>
            <a:off x="2743200" y="5029200"/>
            <a:ext cx="8191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Recover employee and founder hours for product delivery, customers, and team growth without weakening traceability or human control.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89147-7135-4511-B59D-1859776CA7DD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B6DBA0-8187-41FA-8BFF-09EDF8AE8858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882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0FAE63-13BB-4DE3-A728-D3C9552E042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PROBLEM AND OPPORTUNITY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94582-BC91-41C9-8FA0-B9C3951058C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Three recurring tasks pull a small team away from delivery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BAF04EA-25C7-47F5-B0F4-AD80A3CA955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68BEC-9267-44BA-A9D8-F7873931B4D3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COMPANY 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6DB73-1778-4C0A-B1B0-944C454AA387}"/>
              </a:ext>
            </a:extLst>
          </p:cNvPr>
          <p:cNvSpPr>
            <a:spLocks noGrp="1"/>
          </p:cNvSpPr>
          <p:nvPr/>
        </p:nvSpPr>
        <p:spPr>
          <a:xfrm>
            <a:off x="2914650" y="192405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Employees search several systems and reconstruct company history before they can answer routine questions.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D97A5D-34D1-485E-AB96-DA277F7809A9}"/>
              </a:ext>
            </a:extLst>
          </p:cNvPr>
          <p:cNvSpPr>
            <a:spLocks noGrp="1"/>
          </p:cNvSpPr>
          <p:nvPr/>
        </p:nvSpPr>
        <p:spPr>
          <a:xfrm>
            <a:off x="8420100" y="1943100"/>
            <a:ext cx="27813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Slower decisions and incomplete context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2E87F0D-45D5-4E5F-A0ED-9A357BC62B89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05156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CDE53-DBD5-4389-8FCA-CDBE3A949CB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MEETING FOLLOW-UP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394F2-B9D0-4E79-BECA-FE3FA3D1F2AF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Owners, due dates, and decisions must be extracted from notes and rewritten into actionable work.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27EE1-8E6B-48B6-A1D4-77D9D28A7D38}"/>
              </a:ext>
            </a:extLst>
          </p:cNvPr>
          <p:cNvSpPr>
            <a:spLocks noGrp="1"/>
          </p:cNvSpPr>
          <p:nvPr/>
        </p:nvSpPr>
        <p:spPr>
          <a:xfrm>
            <a:off x="8420100" y="3143250"/>
            <a:ext cx="27813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Delayed, duplicated, or missed actions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E336DB1-3854-4C14-98D3-7D43CEA56C24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5156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F8E66-E839-4BC9-9F5E-065896C7D48B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FOUNDER-LED HIRING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632A2-FC39-4219-BD2A-21315B440959}"/>
              </a:ext>
            </a:extLst>
          </p:cNvPr>
          <p:cNvSpPr>
            <a:spLocks noGrp="1"/>
          </p:cNvSpPr>
          <p:nvPr/>
        </p:nvSpPr>
        <p:spPr>
          <a:xfrm>
            <a:off x="2914650" y="4324350"/>
            <a:ext cx="5048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Each role requires criteria, sourcing, comparison, feedback, and repeated outreach coordination.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075AA9-886D-45C4-95A8-3028F65729AB}"/>
              </a:ext>
            </a:extLst>
          </p:cNvPr>
          <p:cNvSpPr>
            <a:spLocks noGrp="1"/>
          </p:cNvSpPr>
          <p:nvPr/>
        </p:nvSpPr>
        <p:spPr>
          <a:xfrm>
            <a:off x="8420100" y="4343400"/>
            <a:ext cx="27813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Hiring competes with product and customer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8CAAC-C740-4CD5-A367-BB2DEE2E1BD5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 i="0">
                <a:solidFill>
                  <a:srgbClr val="0D3F3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3F34"/>
                </a:solidFill>
                <a:latin typeface="Arial"/>
                <a:ea typeface="Arial"/>
                <a:cs typeface="Arial"/>
              </a:rPr>
              <a:t>The opportunity is not another chatbot. It is a repeatable operating workflow that carries supported context into the next decision.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6C17A-36C5-4C68-A8BD-91065258E17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83BA0-7DB1-43DB-8C6E-B4ED6FA3E35E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317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149A89-E5A4-48E3-ADE4-D51FDE3691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BASELINE ASSUMPTIONS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5132D5-B1A5-4DEE-B462-6C74D293965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Current workflows carry measurable friction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8C90F76-F4ED-4A40-AB86-FE14254FF93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685800" y="1847850"/>
          <a:ext cx="10820400" cy="3409952"/>
        </p:xfrm>
        <a:graphic>
          <a:graphicData uri="http://schemas.openxmlformats.org/drawingml/2006/table">
            <a:tbl>
              <a:tblPr firstRow="1" band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2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14300" marR="114300" marT="85725" marB="85725" anchor="ctr">
                    <a:solidFill>
                      <a:srgbClr val="0D3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workflow</a:t>
                      </a:r>
                    </a:p>
                  </a:txBody>
                  <a:tcPr marL="114300" marR="114300" marT="85725" marB="85725" anchor="ctr">
                    <a:solidFill>
                      <a:srgbClr val="0D3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114300" marT="85725" marB="85725" anchor="ctr">
                    <a:solidFill>
                      <a:srgbClr val="0D3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consequence</a:t>
                      </a:r>
                    </a:p>
                  </a:txBody>
                  <a:tcPr marL="114300" marR="114300" marT="85725" marB="85725" anchor="ctr">
                    <a:solidFill>
                      <a:srgbClr val="0D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Answer a company question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Search multiple sources and reconstruct the history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25 minutes per query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Routine questions consume staff time and may rely on incomplete context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Follow up a meeting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Interpret notes, recover details, assign ownership, and draft work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45 minutes per meeting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Actions can be delayed, duplicated, or missed</a:t>
                      </a:r>
                    </a:p>
                  </a:txBody>
                  <a:tcPr marL="114300" marR="114300" marT="85725" marB="8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4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Run founder-led hiring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Define criteria, find profiles, compare candidates, and chase replies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More than 15 hours per role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Recruiting administration competes with product, customers, and leadership</a:t>
                      </a:r>
                    </a:p>
                  </a:txBody>
                  <a:tcPr marL="114300" marR="114300" marT="85725" marB="85725" anchor="ctr">
                    <a:solidFill>
                      <a:srgbClr val="ED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1E4C24D-F2B7-4C63-8B56-341ED30A00F6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These figures are team assumptions to validate during the pilot, not achieved or externally benchmarked results.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CB986-7F65-4593-BD6D-B9FFAB4B04B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F01F8-C8AC-4086-9575-A1ADC85C0B8E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517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106A999-3229-4B18-9459-CECA820F867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8482F-B9EF-4603-A4AE-A94119F9CA0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operating loop carries context into the next task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83EFEA7-5B93-418F-8515-D35D99AD629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04E009F-2351-4968-A81E-85852AABC860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9829800" cy="0"/>
          </a:xfrm>
          <a:prstGeom prst="line">
            <a:avLst/>
          </a:prstGeom>
          <a:noFill/>
          <a:ln w="38100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E2D0D-A16A-41CB-9624-297CF4CB0AEA}"/>
              </a:ext>
            </a:extLst>
          </p:cNvPr>
          <p:cNvSpPr>
            <a:spLocks noGrp="1"/>
          </p:cNvSpPr>
          <p:nvPr/>
        </p:nvSpPr>
        <p:spPr>
          <a:xfrm>
            <a:off x="923925" y="2466975"/>
            <a:ext cx="514350" cy="514350"/>
          </a:xfrm>
          <a:prstGeom prst="ellipse">
            <a:avLst/>
          </a:prstGeom>
          <a:solidFill>
            <a:srgbClr val="11755D"/>
          </a:solidFill>
          <a:ln w="38100">
            <a:solidFill>
              <a:srgbClr val="1423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BB0DC-B8A9-429F-BC17-CDD7514548B3}"/>
              </a:ext>
            </a:extLst>
          </p:cNvPr>
          <p:cNvSpPr>
            <a:spLocks noGrp="1"/>
          </p:cNvSpPr>
          <p:nvPr/>
        </p:nvSpPr>
        <p:spPr>
          <a:xfrm>
            <a:off x="1009650" y="2600325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05D158-F0C8-4EDB-9D86-59D892523A1A}"/>
              </a:ext>
            </a:extLst>
          </p:cNvPr>
          <p:cNvSpPr>
            <a:spLocks noGrp="1"/>
          </p:cNvSpPr>
          <p:nvPr/>
        </p:nvSpPr>
        <p:spPr>
          <a:xfrm>
            <a:off x="266700" y="32575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6637D-CEB2-4AFE-A427-BA5D4F4B2F62}"/>
              </a:ext>
            </a:extLst>
          </p:cNvPr>
          <p:cNvSpPr>
            <a:spLocks noGrp="1"/>
          </p:cNvSpPr>
          <p:nvPr/>
        </p:nvSpPr>
        <p:spPr>
          <a:xfrm>
            <a:off x="190500" y="3924300"/>
            <a:ext cx="1981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 i="0">
                <a:solidFill>
                  <a:srgbClr val="C4D1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4D1CC"/>
                </a:solidFill>
                <a:latin typeface="Arial"/>
                <a:ea typeface="Arial"/>
                <a:cs typeface="Arial"/>
              </a:rPr>
              <a:t>Recover an evidence-backed answer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469425-63FB-4BDB-8407-73EAA4FE6C8B}"/>
              </a:ext>
            </a:extLst>
          </p:cNvPr>
          <p:cNvSpPr>
            <a:spLocks noGrp="1"/>
          </p:cNvSpPr>
          <p:nvPr/>
        </p:nvSpPr>
        <p:spPr>
          <a:xfrm>
            <a:off x="3381375" y="2466975"/>
            <a:ext cx="514350" cy="514350"/>
          </a:xfrm>
          <a:prstGeom prst="ellipse">
            <a:avLst/>
          </a:prstGeom>
          <a:solidFill>
            <a:srgbClr val="11755D"/>
          </a:solidFill>
          <a:ln w="38100">
            <a:solidFill>
              <a:srgbClr val="1423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D0BBC-C4F1-4EC3-8922-8A894B57EA28}"/>
              </a:ext>
            </a:extLst>
          </p:cNvPr>
          <p:cNvSpPr>
            <a:spLocks noGrp="1"/>
          </p:cNvSpPr>
          <p:nvPr/>
        </p:nvSpPr>
        <p:spPr>
          <a:xfrm>
            <a:off x="3467100" y="2600325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8AD03-B953-41CA-B716-28C282195BEC}"/>
              </a:ext>
            </a:extLst>
          </p:cNvPr>
          <p:cNvSpPr>
            <a:spLocks noGrp="1"/>
          </p:cNvSpPr>
          <p:nvPr/>
        </p:nvSpPr>
        <p:spPr>
          <a:xfrm>
            <a:off x="2724150" y="32575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Date-View Planner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709876-7254-461F-BA72-CA95D5B83FF4}"/>
              </a:ext>
            </a:extLst>
          </p:cNvPr>
          <p:cNvSpPr>
            <a:spLocks noGrp="1"/>
          </p:cNvSpPr>
          <p:nvPr/>
        </p:nvSpPr>
        <p:spPr>
          <a:xfrm>
            <a:off x="2647950" y="3924300"/>
            <a:ext cx="1981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 i="0">
                <a:solidFill>
                  <a:srgbClr val="C4D1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4D1CC"/>
                </a:solidFill>
                <a:latin typeface="Arial"/>
                <a:ea typeface="Arial"/>
                <a:cs typeface="Arial"/>
              </a:rPr>
              <a:t>Relate evidence to today's work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5A38F4-7EBC-4658-935B-210A62D065D8}"/>
              </a:ext>
            </a:extLst>
          </p:cNvPr>
          <p:cNvSpPr>
            <a:spLocks noGrp="1"/>
          </p:cNvSpPr>
          <p:nvPr/>
        </p:nvSpPr>
        <p:spPr>
          <a:xfrm>
            <a:off x="5838825" y="2466975"/>
            <a:ext cx="514350" cy="514350"/>
          </a:xfrm>
          <a:prstGeom prst="ellipse">
            <a:avLst/>
          </a:prstGeom>
          <a:solidFill>
            <a:srgbClr val="11755D"/>
          </a:solidFill>
          <a:ln w="38100">
            <a:solidFill>
              <a:srgbClr val="1423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599A8D-52D7-4D0A-9F4F-F21C8C573483}"/>
              </a:ext>
            </a:extLst>
          </p:cNvPr>
          <p:cNvSpPr>
            <a:spLocks noGrp="1"/>
          </p:cNvSpPr>
          <p:nvPr/>
        </p:nvSpPr>
        <p:spPr>
          <a:xfrm>
            <a:off x="5924550" y="2600325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172020-2AC7-4EDD-919A-4BC28B8AFA45}"/>
              </a:ext>
            </a:extLst>
          </p:cNvPr>
          <p:cNvSpPr>
            <a:spLocks noGrp="1"/>
          </p:cNvSpPr>
          <p:nvPr/>
        </p:nvSpPr>
        <p:spPr>
          <a:xfrm>
            <a:off x="5181600" y="32575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Actions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09303-7CE7-43DD-A7EA-96641BA13321}"/>
              </a:ext>
            </a:extLst>
          </p:cNvPr>
          <p:cNvSpPr>
            <a:spLocks noGrp="1"/>
          </p:cNvSpPr>
          <p:nvPr/>
        </p:nvSpPr>
        <p:spPr>
          <a:xfrm>
            <a:off x="5105400" y="3924300"/>
            <a:ext cx="1981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 i="0">
                <a:solidFill>
                  <a:srgbClr val="C4D1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4D1CC"/>
                </a:solidFill>
                <a:latin typeface="Arial"/>
                <a:ea typeface="Arial"/>
                <a:cs typeface="Arial"/>
              </a:rPr>
              <a:t>Capture decisions and commitments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2AFFCD-C753-45F1-BF12-F775AE52065F}"/>
              </a:ext>
            </a:extLst>
          </p:cNvPr>
          <p:cNvSpPr>
            <a:spLocks noGrp="1"/>
          </p:cNvSpPr>
          <p:nvPr/>
        </p:nvSpPr>
        <p:spPr>
          <a:xfrm>
            <a:off x="8296275" y="2466975"/>
            <a:ext cx="514350" cy="514350"/>
          </a:xfrm>
          <a:prstGeom prst="ellipse">
            <a:avLst/>
          </a:prstGeom>
          <a:solidFill>
            <a:srgbClr val="EF6A4E"/>
          </a:solidFill>
          <a:ln w="38100">
            <a:solidFill>
              <a:srgbClr val="1423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05130-E985-4D0C-B99E-08319AD0196B}"/>
              </a:ext>
            </a:extLst>
          </p:cNvPr>
          <p:cNvSpPr>
            <a:spLocks noGrp="1"/>
          </p:cNvSpPr>
          <p:nvPr/>
        </p:nvSpPr>
        <p:spPr>
          <a:xfrm>
            <a:off x="8382000" y="2600325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F271E9-24B5-4A15-A391-406F4782AB3C}"/>
              </a:ext>
            </a:extLst>
          </p:cNvPr>
          <p:cNvSpPr>
            <a:spLocks noGrp="1"/>
          </p:cNvSpPr>
          <p:nvPr/>
        </p:nvSpPr>
        <p:spPr>
          <a:xfrm>
            <a:off x="7639050" y="32575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Gap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64F665-E5B4-492E-AD03-6C38E96C4E03}"/>
              </a:ext>
            </a:extLst>
          </p:cNvPr>
          <p:cNvSpPr>
            <a:spLocks noGrp="1"/>
          </p:cNvSpPr>
          <p:nvPr/>
        </p:nvSpPr>
        <p:spPr>
          <a:xfrm>
            <a:off x="7562850" y="3924300"/>
            <a:ext cx="1981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 i="0">
                <a:solidFill>
                  <a:srgbClr val="C4D1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4D1CC"/>
                </a:solidFill>
                <a:latin typeface="Arial"/>
                <a:ea typeface="Arial"/>
                <a:cs typeface="Arial"/>
              </a:rPr>
              <a:t>Propose a capacity need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CB33FB-8997-4244-9CD0-0CFDE9E33FA3}"/>
              </a:ext>
            </a:extLst>
          </p:cNvPr>
          <p:cNvSpPr>
            <a:spLocks noGrp="1"/>
          </p:cNvSpPr>
          <p:nvPr/>
        </p:nvSpPr>
        <p:spPr>
          <a:xfrm>
            <a:off x="10753725" y="2466975"/>
            <a:ext cx="514350" cy="514350"/>
          </a:xfrm>
          <a:prstGeom prst="ellipse">
            <a:avLst/>
          </a:prstGeom>
          <a:solidFill>
            <a:srgbClr val="7567B5"/>
          </a:solidFill>
          <a:ln w="38100">
            <a:solidFill>
              <a:srgbClr val="14231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041C2E-6DC7-4F9B-B40C-A4AE704A04CC}"/>
              </a:ext>
            </a:extLst>
          </p:cNvPr>
          <p:cNvSpPr>
            <a:spLocks noGrp="1"/>
          </p:cNvSpPr>
          <p:nvPr/>
        </p:nvSpPr>
        <p:spPr>
          <a:xfrm>
            <a:off x="10839450" y="2600325"/>
            <a:ext cx="342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071094-1AC5-4019-9254-FE09BEA7F391}"/>
              </a:ext>
            </a:extLst>
          </p:cNvPr>
          <p:cNvSpPr>
            <a:spLocks noGrp="1"/>
          </p:cNvSpPr>
          <p:nvPr/>
        </p:nvSpPr>
        <p:spPr>
          <a:xfrm>
            <a:off x="10096500" y="32575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743EDA-3532-45A1-9FAE-A560C432EBEA}"/>
              </a:ext>
            </a:extLst>
          </p:cNvPr>
          <p:cNvSpPr>
            <a:spLocks noGrp="1"/>
          </p:cNvSpPr>
          <p:nvPr/>
        </p:nvSpPr>
        <p:spPr>
          <a:xfrm>
            <a:off x="10020300" y="3924300"/>
            <a:ext cx="19812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 i="0">
                <a:solidFill>
                  <a:srgbClr val="C4D1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4D1CC"/>
                </a:solidFill>
                <a:latin typeface="Arial"/>
                <a:ea typeface="Arial"/>
                <a:cs typeface="Arial"/>
              </a:rPr>
              <a:t>Prepare a controlled hiring workflow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C9022D4-E467-4EEF-9FD8-E3C433E16C8C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0"/>
          </a:xfrm>
          <a:prstGeom prst="line">
            <a:avLst/>
          </a:prstGeom>
          <a:noFill/>
          <a:ln w="14288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927C2-9440-41B7-909C-5BD1790A0C7D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Control boundary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1F8388-38B5-43E3-A6F9-C6C796DAA1A3}"/>
              </a:ext>
            </a:extLst>
          </p:cNvPr>
          <p:cNvSpPr>
            <a:spLocks noGrp="1"/>
          </p:cNvSpPr>
          <p:nvPr/>
        </p:nvSpPr>
        <p:spPr>
          <a:xfrm>
            <a:off x="2647950" y="5334000"/>
            <a:ext cx="8477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Kaki.ai prepares answers, plans, drafts, and proposals. The employee decides whether any consequential handoff proceeds.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09F728-3B56-4DA7-B656-326170B423D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19FD9D-3BAA-4E0F-9F03-8A341B4D14ED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6770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E3BE2D-31E4-4D46-B46B-09EB26694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CORE EVIDENCE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256542-7142-4C21-9B0B-752366F14A9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Traceable company context powers daily planning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D3CE4F0-69F9-41C7-8A5F-8A0BB0221FE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3EA64-1FF9-4B2C-868C-AC4C5D7DB80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COMPANY ARTIFACTS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D541C-5E2D-4B9F-ACB3-27598C22C647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4,988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F1CBE-FB88-4576-A33A-FB6CD658AC22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employee-visible synthetic records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207077-3E18-4BDE-BE24-D4631E23F4AB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RECORD TYPES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6E57C-1D01-4E12-B126-8D95A79CB127}"/>
              </a:ext>
            </a:extLst>
          </p:cNvPr>
          <p:cNvSpPr>
            <a:spLocks noGrp="1"/>
          </p:cNvSpPr>
          <p:nvPr/>
        </p:nvSpPr>
        <p:spPr>
          <a:xfrm>
            <a:off x="3143250" y="20764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EE983-7AE9-4EBE-A3E1-8F91A4FA20DE}"/>
              </a:ext>
            </a:extLst>
          </p:cNvPr>
          <p:cNvSpPr>
            <a:spLocks noGrp="1"/>
          </p:cNvSpPr>
          <p:nvPr/>
        </p:nvSpPr>
        <p:spPr>
          <a:xfrm>
            <a:off x="3143250" y="26479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declared workplace artifact types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8B7A6-998F-4B1E-989F-351E88039129}"/>
              </a:ext>
            </a:extLst>
          </p:cNvPr>
          <p:cNvSpPr>
            <a:spLocks noGrp="1"/>
          </p:cNvSpPr>
          <p:nvPr/>
        </p:nvSpPr>
        <p:spPr>
          <a:xfrm>
            <a:off x="5600700" y="18097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EMPLOYEE PERSONAS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C710D-9106-4A17-BA94-4AD5964372D8}"/>
              </a:ext>
            </a:extLst>
          </p:cNvPr>
          <p:cNvSpPr>
            <a:spLocks noGrp="1"/>
          </p:cNvSpPr>
          <p:nvPr/>
        </p:nvSpPr>
        <p:spPr>
          <a:xfrm>
            <a:off x="5600700" y="20764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B629D-BFB7-4A00-9656-289D98705ED7}"/>
              </a:ext>
            </a:extLst>
          </p:cNvPr>
          <p:cNvSpPr>
            <a:spLocks noGrp="1"/>
          </p:cNvSpPr>
          <p:nvPr/>
        </p:nvSpPr>
        <p:spPr>
          <a:xfrm>
            <a:off x="5600700" y="26479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scoped Working 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59102-E73E-4B1A-988C-438BC58701D5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 i="0">
                <a:solidFill>
                  <a:srgbClr val="0D3F3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D3F34"/>
                </a:solidFill>
                <a:latin typeface="Arial"/>
                <a:ea typeface="Arial"/>
                <a:cs typeface="Arial"/>
              </a:rPr>
              <a:t>Company 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09278B-9BB2-4037-B0FF-13782E15E1B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46672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Hybrid search and bounded graph traversal help find relevant records. Company claims cite only inspectable Company Evidence retrieved in the current run.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4AA9D7-2864-4813-912F-C91667259DA0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 i="0">
                <a:solidFill>
                  <a:srgbClr val="7567B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567B5"/>
                </a:solidFill>
                <a:latin typeface="Arial"/>
                <a:ea typeface="Arial"/>
                <a:cs typeface="Arial"/>
              </a:rPr>
              <a:t>Date-View Planner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063388-871F-4B79-A414-B8461E6A30C0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46672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The planner shows the signed-in employee's approved daily projection. Projected rows retain provenance but do not become factual evidence by themselves.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C32CBA9-A9DB-4ACD-94F4-31713CE1AEF6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B7277FB-C250-4518-8660-B294EB351B93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11755D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PROOF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2E4A4C-BC2D-461B-822F-69082B1512E5}"/>
              </a:ext>
            </a:extLst>
          </p:cNvPr>
          <p:cNvSpPr>
            <a:spLocks noGrp="1"/>
          </p:cNvSpPr>
          <p:nvPr/>
        </p:nvSpPr>
        <p:spPr>
          <a:xfrm>
            <a:off x="1962150" y="5695950"/>
            <a:ext cx="8915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0D3F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D3F34"/>
                </a:solidFill>
                <a:latin typeface="Arial"/>
                <a:ea typeface="Arial"/>
                <a:cs typeface="Arial"/>
              </a:rPr>
              <a:t>Open a citation, inspect a related graph view, switch persona, and show the planner provenance label.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AC0A77-6E65-4D04-8580-593CE79D04A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E652C2-DE9B-44F4-BF8A-977F6EEC1186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987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4A37243-9057-4C3F-8032-F5239EC03AF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PROTOTYPE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130BF2-7F9D-4F78-A4C4-AEE14BA79C2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decisions become reviewable follow-up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60B09A5-6051-4DF1-9B97-58F1806DF4BE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B18AE6-C646-417C-89FE-B18EB6E0D6B5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247900" cy="1847850"/>
          </a:xfrm>
          <a:prstGeom prst="roundRect">
            <a:avLst>
              <a:gd name="adj" fmla="val 6186"/>
            </a:avLst>
          </a:prstGeom>
          <a:solidFill>
            <a:srgbClr val="1C5144"/>
          </a:solidFill>
          <a:ln w="19050">
            <a:solidFill>
              <a:srgbClr val="5F91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2A965-D02A-456A-B00B-F5337F4EB290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BCD70-7A45-41BB-9BB9-3AE2697E29A2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D61F73-71DD-4F88-85EF-0F07AF337669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8669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D4DE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DEDA"/>
                </a:solidFill>
                <a:latin typeface="Arial"/>
                <a:ea typeface="Arial"/>
                <a:cs typeface="Arial"/>
              </a:rPr>
              <a:t>Live or supplied speech becomes a transcript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526EF-B892-493D-9F9B-B210AC2331E8}"/>
              </a:ext>
            </a:extLst>
          </p:cNvPr>
          <p:cNvSpPr>
            <a:spLocks noGrp="1"/>
          </p:cNvSpPr>
          <p:nvPr/>
        </p:nvSpPr>
        <p:spPr>
          <a:xfrm>
            <a:off x="3409950" y="2171700"/>
            <a:ext cx="2247900" cy="1847850"/>
          </a:xfrm>
          <a:prstGeom prst="roundRect">
            <a:avLst>
              <a:gd name="adj" fmla="val 6186"/>
            </a:avLst>
          </a:prstGeom>
          <a:solidFill>
            <a:srgbClr val="1C5144"/>
          </a:solidFill>
          <a:ln w="19050">
            <a:solidFill>
              <a:srgbClr val="5F91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FE86EE-25F2-4C11-AAAE-0E86A80DFBE6}"/>
              </a:ext>
            </a:extLst>
          </p:cNvPr>
          <p:cNvSpPr>
            <a:spLocks noGrp="1"/>
          </p:cNvSpPr>
          <p:nvPr/>
        </p:nvSpPr>
        <p:spPr>
          <a:xfrm>
            <a:off x="3600450" y="2362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2B42C-C4D7-49D5-A004-55B5A521E213}"/>
              </a:ext>
            </a:extLst>
          </p:cNvPr>
          <p:cNvSpPr>
            <a:spLocks noGrp="1"/>
          </p:cNvSpPr>
          <p:nvPr/>
        </p:nvSpPr>
        <p:spPr>
          <a:xfrm>
            <a:off x="3600450" y="2686050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Understanding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3E4F8-ED0E-4ADA-A11C-B6DC1890AD40}"/>
              </a:ext>
            </a:extLst>
          </p:cNvPr>
          <p:cNvSpPr>
            <a:spLocks noGrp="1"/>
          </p:cNvSpPr>
          <p:nvPr/>
        </p:nvSpPr>
        <p:spPr>
          <a:xfrm>
            <a:off x="3600450" y="3181350"/>
            <a:ext cx="18669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D4DE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DEDA"/>
                </a:solidFill>
                <a:latin typeface="Arial"/>
                <a:ea typeface="Arial"/>
                <a:cs typeface="Arial"/>
              </a:rPr>
              <a:t>Fast answers, deeper evidence checks, and conflict detection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920DB0C-B92C-4846-B7A4-1506EC40479F}"/>
              </a:ext>
            </a:extLst>
          </p:cNvPr>
          <p:cNvSpPr>
            <a:spLocks noGrp="1"/>
          </p:cNvSpPr>
          <p:nvPr/>
        </p:nvSpPr>
        <p:spPr>
          <a:xfrm>
            <a:off x="6134100" y="2171700"/>
            <a:ext cx="2247900" cy="1847850"/>
          </a:xfrm>
          <a:prstGeom prst="roundRect">
            <a:avLst>
              <a:gd name="adj" fmla="val 6186"/>
            </a:avLst>
          </a:prstGeom>
          <a:solidFill>
            <a:srgbClr val="1C5144"/>
          </a:solidFill>
          <a:ln w="19050">
            <a:solidFill>
              <a:srgbClr val="5F91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018940-7B88-4DCE-8A42-FB2E75758D42}"/>
              </a:ext>
            </a:extLst>
          </p:cNvPr>
          <p:cNvSpPr>
            <a:spLocks noGrp="1"/>
          </p:cNvSpPr>
          <p:nvPr/>
        </p:nvSpPr>
        <p:spPr>
          <a:xfrm>
            <a:off x="6324600" y="2362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29702-47EE-4C75-A0D7-04F077BCCDBF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B55FF3-6857-4C66-98B3-50D4318727F0}"/>
              </a:ext>
            </a:extLst>
          </p:cNvPr>
          <p:cNvSpPr>
            <a:spLocks noGrp="1"/>
          </p:cNvSpPr>
          <p:nvPr/>
        </p:nvSpPr>
        <p:spPr>
          <a:xfrm>
            <a:off x="6324600" y="3181350"/>
            <a:ext cx="18669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D4DE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DEDA"/>
                </a:solidFill>
                <a:latin typeface="Arial"/>
                <a:ea typeface="Arial"/>
                <a:cs typeface="Arial"/>
              </a:rPr>
              <a:t>Commitments, decisions, owners, and due dates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BDFEDC5-D31A-4C22-A37B-DB882C00E2EE}"/>
              </a:ext>
            </a:extLst>
          </p:cNvPr>
          <p:cNvSpPr>
            <a:spLocks noGrp="1"/>
          </p:cNvSpPr>
          <p:nvPr/>
        </p:nvSpPr>
        <p:spPr>
          <a:xfrm>
            <a:off x="8858250" y="2171700"/>
            <a:ext cx="2247900" cy="1847850"/>
          </a:xfrm>
          <a:prstGeom prst="roundRect">
            <a:avLst>
              <a:gd name="adj" fmla="val 6186"/>
            </a:avLst>
          </a:prstGeom>
          <a:solidFill>
            <a:srgbClr val="3A325F"/>
          </a:solidFill>
          <a:ln w="19050">
            <a:solidFill>
              <a:srgbClr val="9F95D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D19B06-119A-4982-8C0A-976F282C91DD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4000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B334D2-43D4-41DC-8419-33DDB46D716A}"/>
              </a:ext>
            </a:extLst>
          </p:cNvPr>
          <p:cNvSpPr>
            <a:spLocks noGrp="1"/>
          </p:cNvSpPr>
          <p:nvPr/>
        </p:nvSpPr>
        <p:spPr>
          <a:xfrm>
            <a:off x="9048750" y="2686050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2DBFBC-B5BF-4805-B602-5D7DF6AE935F}"/>
              </a:ext>
            </a:extLst>
          </p:cNvPr>
          <p:cNvSpPr>
            <a:spLocks noGrp="1"/>
          </p:cNvSpPr>
          <p:nvPr/>
        </p:nvSpPr>
        <p:spPr>
          <a:xfrm>
            <a:off x="9048750" y="3181350"/>
            <a:ext cx="18669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 i="0">
                <a:solidFill>
                  <a:srgbClr val="D4DED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4DEDA"/>
                </a:solidFill>
                <a:latin typeface="Arial"/>
                <a:ea typeface="Arial"/>
                <a:cs typeface="Arial"/>
              </a:rPr>
              <a:t>The employee edits or approves the exact draft</a:t>
            </a:r>
          </a:p>
        </p:txBody>
      </p:sp>
      <p:cxnSp>
        <p:nvCxnSpPr>
          <p:cNvPr id="48" name="Straight Arrow Connector 47"/>
          <p:cNvCxnSpPr>
            <a:stCxn id="4" idx="3"/>
            <a:endCxn id="8" idx="1"/>
          </p:cNvCxnSpPr>
          <p:nvPr/>
        </p:nvCxnSpPr>
        <p:spPr>
          <a:xfrm>
            <a:off x="2933700" y="3095625"/>
            <a:ext cx="476250" cy="0"/>
          </a:xfrm>
          <a:prstGeom prst="straightConnector1">
            <a:avLst/>
          </a:prstGeom>
          <a:ln w="23813">
            <a:solidFill>
              <a:srgbClr val="D9BF78"/>
            </a:solidFill>
            <a:prstDash val="solid"/>
          </a:ln>
        </p:spPr>
      </p:cxnSp>
      <p:cxnSp>
        <p:nvCxnSpPr>
          <p:cNvPr id="49" name="Straight Arrow Connector 48"/>
          <p:cNvCxnSpPr>
            <a:stCxn id="8" idx="3"/>
            <a:endCxn id="12" idx="1"/>
          </p:cNvCxnSpPr>
          <p:nvPr/>
        </p:nvCxnSpPr>
        <p:spPr>
          <a:xfrm>
            <a:off x="5657850" y="3095625"/>
            <a:ext cx="476250" cy="0"/>
          </a:xfrm>
          <a:prstGeom prst="straightConnector1">
            <a:avLst/>
          </a:prstGeom>
          <a:ln w="23813">
            <a:solidFill>
              <a:srgbClr val="D9BF78"/>
            </a:solidFill>
            <a:prstDash val="solid"/>
          </a:ln>
        </p:spPr>
      </p:cxnSp>
      <p:cxnSp>
        <p:nvCxnSpPr>
          <p:cNvPr id="50" name="Straight Arrow Connector 49"/>
          <p:cNvCxnSpPr>
            <a:stCxn id="12" idx="3"/>
            <a:endCxn id="16" idx="1"/>
          </p:cNvCxnSpPr>
          <p:nvPr/>
        </p:nvCxnSpPr>
        <p:spPr>
          <a:xfrm>
            <a:off x="8382000" y="3095625"/>
            <a:ext cx="476250" cy="0"/>
          </a:xfrm>
          <a:prstGeom prst="straightConnector1">
            <a:avLst/>
          </a:prstGeom>
          <a:ln w="23813">
            <a:solidFill>
              <a:srgbClr val="D9BF78"/>
            </a:solidFill>
            <a:prstDash val="soli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028C3-86DE-405C-BFDC-4A908C139C27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External actions remain user-controlled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01AC11-DD53-4683-A577-92368129613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 i="0">
                <a:solidFill>
                  <a:srgbClr val="D4DE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4DEDA"/>
                </a:solidFill>
                <a:latin typeface="Arial"/>
                <a:ea typeface="Arial"/>
                <a:cs typeface="Arial"/>
              </a:rPr>
              <a:t>Kaki.ai can prepare a handoff, but it does not silently send a message or execute a workplace change.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0891CA4-394F-4AE9-8475-9A2E107CCF02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EF6A4E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PROOF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F6637B-6501-4D83-AD13-ADD7E1B8B85B}"/>
              </a:ext>
            </a:extLst>
          </p:cNvPr>
          <p:cNvSpPr>
            <a:spLocks noGrp="1"/>
          </p:cNvSpPr>
          <p:nvPr/>
        </p:nvSpPr>
        <p:spPr>
          <a:xfrm>
            <a:off x="1962150" y="5715000"/>
            <a:ext cx="89154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transcript, one evidence-backed answer, an extracted commitment, and the visible review point.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D67EA9-6205-4571-980F-371C13522DC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ED7E84-5217-4672-82BE-FD47387AE40B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9821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AF157A1-C276-42BA-8F63-7CD6D92C74F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KNOWLEDGE-GAP HIRING AND RECRUITING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0FD2A-1C1D-4D10-8DDF-AF959FD9604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Knowledge risks open controlled hiring proposals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93F3DC7-B768-46C4-9149-B5A7B80BD590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12B0A1-B431-4C42-BF3B-0599D559DAFD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A674AC-0250-4FAF-9558-57EFF8E5311F}"/>
              </a:ext>
            </a:extLst>
          </p:cNvPr>
          <p:cNvSpPr>
            <a:spLocks noGrp="1"/>
          </p:cNvSpPr>
          <p:nvPr/>
        </p:nvSpPr>
        <p:spPr>
          <a:xfrm>
            <a:off x="1352550" y="18478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Evidence signal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F23F39-6EAD-438A-9D15-37F6E7DA4E0F}"/>
              </a:ext>
            </a:extLst>
          </p:cNvPr>
          <p:cNvSpPr>
            <a:spLocks noGrp="1"/>
          </p:cNvSpPr>
          <p:nvPr/>
        </p:nvSpPr>
        <p:spPr>
          <a:xfrm>
            <a:off x="4095750" y="1828800"/>
            <a:ext cx="69723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Employee-visible artifacts and the deployed graph indicate a domain may be at risk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D068D48-5DA0-4D64-B7A4-5C776F05D94B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97155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FF15-0A68-4EE5-9D86-4834FE1EC34F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BCBF1-9985-40F8-8955-B902A0BC0C27}"/>
              </a:ext>
            </a:extLst>
          </p:cNvPr>
          <p:cNvSpPr>
            <a:spLocks noGrp="1"/>
          </p:cNvSpPr>
          <p:nvPr/>
        </p:nvSpPr>
        <p:spPr>
          <a:xfrm>
            <a:off x="1352550" y="27622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Hiring proposal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9FBCB9-9560-42BF-948B-6560DACBA87C}"/>
              </a:ext>
            </a:extLst>
          </p:cNvPr>
          <p:cNvSpPr>
            <a:spLocks noGrp="1"/>
          </p:cNvSpPr>
          <p:nvPr/>
        </p:nvSpPr>
        <p:spPr>
          <a:xfrm>
            <a:off x="4095750" y="2743200"/>
            <a:ext cx="69723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explains the signal and opens a draft role only when the user chooses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441AD22-115A-442A-8EF4-5C98D7DE7C3C}"/>
              </a:ext>
            </a:extLst>
          </p:cNvPr>
          <p:cNvSpPr>
            <a:spLocks noGrp="1"/>
          </p:cNvSpPr>
          <p:nvPr/>
        </p:nvSpPr>
        <p:spPr>
          <a:xfrm>
            <a:off x="1352550" y="3409950"/>
            <a:ext cx="97155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1571DC-5252-4DA3-98BF-DB0549C4DC63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7567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567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01A647-5CFF-4E09-B570-677CD61DDBCC}"/>
              </a:ext>
            </a:extLst>
          </p:cNvPr>
          <p:cNvSpPr>
            <a:spLocks noGrp="1"/>
          </p:cNvSpPr>
          <p:nvPr/>
        </p:nvSpPr>
        <p:spPr>
          <a:xfrm>
            <a:off x="1352550" y="36766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Criteria and 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104172-E32E-4F13-B37B-B443E3C69EE8}"/>
              </a:ext>
            </a:extLst>
          </p:cNvPr>
          <p:cNvSpPr>
            <a:spLocks noGrp="1"/>
          </p:cNvSpPr>
          <p:nvPr/>
        </p:nvSpPr>
        <p:spPr>
          <a:xfrm>
            <a:off x="4095750" y="3657600"/>
            <a:ext cx="69723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The founder confirms requirements, compares profiles, and records feedback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25386C2-455E-43F2-873C-DDF5E2DBE6A7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9715500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27CB35-4964-41ED-8204-30788297D748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7567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567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8C66B-0369-4C8E-977F-8F1E49AA1A99}"/>
              </a:ext>
            </a:extLst>
          </p:cNvPr>
          <p:cNvSpPr>
            <a:spLocks noGrp="1"/>
          </p:cNvSpPr>
          <p:nvPr/>
        </p:nvSpPr>
        <p:spPr>
          <a:xfrm>
            <a:off x="1352550" y="4591050"/>
            <a:ext cx="2438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Outreach draft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1BFA0B-F0CA-4A5E-8313-614184FBB3C6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69723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Messages stay as drafts until the founder completes the handoff in their own account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6B6018-3ABA-432D-841C-A1292F25DFAD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Important boundary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96D8C9-0506-4E27-BA8F-0863F228AFA6}"/>
              </a:ext>
            </a:extLst>
          </p:cNvPr>
          <p:cNvSpPr>
            <a:spLocks noGrp="1"/>
          </p:cNvSpPr>
          <p:nvPr/>
        </p:nvSpPr>
        <p:spPr>
          <a:xfrm>
            <a:off x="2533650" y="54864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A proposal only proposes. Criteria confirmation, candidate search, and outreach remain human decisions.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5956523-884B-4A65-968B-0FA14F597365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7567B5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PROOF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B795ED-21CB-49A7-84FC-E751CE998D38}"/>
              </a:ext>
            </a:extLst>
          </p:cNvPr>
          <p:cNvSpPr>
            <a:spLocks noGrp="1"/>
          </p:cNvSpPr>
          <p:nvPr/>
        </p:nvSpPr>
        <p:spPr>
          <a:xfrm>
            <a:off x="1962150" y="5962650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0D3F3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3F34"/>
                </a:solidFill>
                <a:latin typeface="Arial"/>
                <a:ea typeface="Arial"/>
                <a:cs typeface="Arial"/>
              </a:rPr>
              <a:t>Open a proposed role from a gap signal, confirm criteria, and stop before any external send.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9F7170-BB3C-46CC-B12E-4F50BD695AB1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A4F8C5-049D-4659-887D-D190CFF6232B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067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F9E5E3-B60B-4DCD-94D1-30F214FB7E7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BUSINESS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E7857-D13F-4113-83DE-07586B8BD20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14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4231F"/>
                </a:solidFill>
                <a:latin typeface="Arial"/>
                <a:ea typeface="Arial"/>
                <a:cs typeface="Arial"/>
              </a:rPr>
              <a:t>Each workflow returns time or control to the business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59A2C31-18C6-4FDA-BDE7-AAE6AC9EF3B1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C9D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685800" y="1790700"/>
          <a:ext cx="10820400" cy="3905250"/>
        </p:xfrm>
        <a:graphic>
          <a:graphicData uri="http://schemas.openxmlformats.org/drawingml/2006/table">
            <a:tbl>
              <a:tblPr firstRow="1" bandRow="1"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Workflow</a:t>
                      </a:r>
                    </a:p>
                  </a:txBody>
                  <a:tcPr marL="104775" marR="104775" marT="76200" marB="76200" anchor="ctr">
                    <a:solidFill>
                      <a:srgbClr val="0D3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 mechanism</a:t>
                      </a:r>
                    </a:p>
                  </a:txBody>
                  <a:tcPr marL="104775" marR="104775" marT="76200" marB="76200" anchor="ctr">
                    <a:solidFill>
                      <a:srgbClr val="0D3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business result</a:t>
                      </a:r>
                    </a:p>
                  </a:txBody>
                  <a:tcPr marL="104775" marR="104775" marT="76200" marB="76200" anchor="ctr">
                    <a:solidFill>
                      <a:srgbClr val="0D3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Company Context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Reduces repeated search and makes the basis of an answer inspectable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Faster supported decisions and less staff time spent reconstructing history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Date-View Planner</a:t>
                      </a:r>
                    </a:p>
                  </a:txBody>
                  <a:tcPr marL="104775" marR="104775" marT="66675" marB="6667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Places the employee's projected priorities in one dated view</a:t>
                      </a:r>
                    </a:p>
                  </a:txBody>
                  <a:tcPr marL="104775" marR="104775" marT="66675" marB="6667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Less context switching during daily planning</a:t>
                      </a:r>
                    </a:p>
                  </a:txBody>
                  <a:tcPr marL="104775" marR="104775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Meeting Actions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Converts conversation into structured, reviewable follow-up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Less administration and fewer actions lost after meetings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Knowledge-Gap Hiring</a:t>
                      </a:r>
                    </a:p>
                  </a:txBody>
                  <a:tcPr marL="104775" marR="104775" marT="66675" marB="6667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Links an explainable capacity risk to a draft role</a:t>
                      </a:r>
                    </a:p>
                  </a:txBody>
                  <a:tcPr marL="104775" marR="104775" marT="66675" marB="66675" anchor="ctr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Shorter delay between identifying a gap and defining a response</a:t>
                      </a:r>
                    </a:p>
                  </a:txBody>
                  <a:tcPr marL="104775" marR="104775" marT="66675" marB="666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Recruiting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Reuses confirmed criteria across candidate review and outreach preparation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31F"/>
                          </a:solidFill>
                          <a:latin typeface="Arial"/>
                          <a:ea typeface="Arial"/>
                          <a:cs typeface="Arial"/>
                        </a:rPr>
                        <a:t>Less founder administration per active role</a:t>
                      </a:r>
                    </a:p>
                  </a:txBody>
                  <a:tcPr marL="104775" marR="104775" marT="66675" marB="66675" anchor="ctr">
                    <a:solidFill>
                      <a:srgbClr val="ED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18A02E5-1B63-49CE-BE49-150C3BE44243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096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The proposal should claim recovered employee and founder hours, not unverified dollar savings.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08578-7BB9-4723-A051-6622F39DBFD8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63716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3716C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BE7CDB-B62A-478A-B47B-0B804E1B7B52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1175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75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440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511464A-DAD3-463D-BC3E-AA8E79E0F41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287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SUCCESS MEASURES AND FEASIBILITY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2D83A-1D33-4FC8-931D-D2FFC9E7232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targets pair time savings with operating controls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F8C3CB4-39C9-4233-9FD8-CC5C3DF4766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0820400" cy="0"/>
          </a:xfrm>
          <a:prstGeom prst="line">
            <a:avLst/>
          </a:prstGeom>
          <a:noFill/>
          <a:ln w="1333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FBE12-E270-42AB-B313-B1068A9F4EB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INITIAL TARGETS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AD355-46FB-4B36-BD0F-9232FFD9DF30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Company answer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81706-ACBC-4656-B517-FC1C48B88A3E}"/>
              </a:ext>
            </a:extLst>
          </p:cNvPr>
          <p:cNvSpPr>
            <a:spLocks noGrp="1"/>
          </p:cNvSpPr>
          <p:nvPr/>
        </p:nvSpPr>
        <p:spPr>
          <a:xfrm>
            <a:off x="2743200" y="22669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72F54-C8E5-47E4-94B0-03FBE486A7B1}"/>
              </a:ext>
            </a:extLst>
          </p:cNvPr>
          <p:cNvSpPr>
            <a:spLocks noGrp="1"/>
          </p:cNvSpPr>
          <p:nvPr/>
        </p:nvSpPr>
        <p:spPr>
          <a:xfrm>
            <a:off x="2743200" y="24765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724F3D-2203-4323-906F-C234016AD562}"/>
              </a:ext>
            </a:extLst>
          </p:cNvPr>
          <p:cNvSpPr>
            <a:spLocks noGrp="1"/>
          </p:cNvSpPr>
          <p:nvPr/>
        </p:nvSpPr>
        <p:spPr>
          <a:xfrm>
            <a:off x="4457700" y="22669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4DA0A2-FCAD-491F-8F09-D40F8EF04895}"/>
              </a:ext>
            </a:extLst>
          </p:cNvPr>
          <p:cNvSpPr>
            <a:spLocks noGrp="1"/>
          </p:cNvSpPr>
          <p:nvPr/>
        </p:nvSpPr>
        <p:spPr>
          <a:xfrm>
            <a:off x="4457700" y="2476500"/>
            <a:ext cx="1581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Under 5 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80C60-39D2-4AF8-AF5E-7A4A446F9458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Meeting draft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AC2A40-BD86-4401-8137-9277F19A03D2}"/>
              </a:ext>
            </a:extLst>
          </p:cNvPr>
          <p:cNvSpPr>
            <a:spLocks noGrp="1"/>
          </p:cNvSpPr>
          <p:nvPr/>
        </p:nvSpPr>
        <p:spPr>
          <a:xfrm>
            <a:off x="2743200" y="32575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C105DE-2E79-4A76-B7BA-CBD6E9CFC5D1}"/>
              </a:ext>
            </a:extLst>
          </p:cNvPr>
          <p:cNvSpPr>
            <a:spLocks noGrp="1"/>
          </p:cNvSpPr>
          <p:nvPr/>
        </p:nvSpPr>
        <p:spPr>
          <a:xfrm>
            <a:off x="2743200" y="34671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45 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892012-6565-4189-8690-66BEED62C740}"/>
              </a:ext>
            </a:extLst>
          </p:cNvPr>
          <p:cNvSpPr>
            <a:spLocks noGrp="1"/>
          </p:cNvSpPr>
          <p:nvPr/>
        </p:nvSpPr>
        <p:spPr>
          <a:xfrm>
            <a:off x="4457700" y="32575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2ACDA1-CAD8-443A-9DDF-6724C2DBDB98}"/>
              </a:ext>
            </a:extLst>
          </p:cNvPr>
          <p:cNvSpPr>
            <a:spLocks noGrp="1"/>
          </p:cNvSpPr>
          <p:nvPr/>
        </p:nvSpPr>
        <p:spPr>
          <a:xfrm>
            <a:off x="4457700" y="3467100"/>
            <a:ext cx="1581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Under 5 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94914D-D1CE-4E7A-9F7A-0C2AC2519A1E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1905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Recruiting admin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F1B9A6-CA52-4C26-BA49-49E89799D36A}"/>
              </a:ext>
            </a:extLst>
          </p:cNvPr>
          <p:cNvSpPr>
            <a:spLocks noGrp="1"/>
          </p:cNvSpPr>
          <p:nvPr/>
        </p:nvSpPr>
        <p:spPr>
          <a:xfrm>
            <a:off x="2743200" y="42481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F80F2-0468-4253-A145-845648F8EC1F}"/>
              </a:ext>
            </a:extLst>
          </p:cNvPr>
          <p:cNvSpPr>
            <a:spLocks noGrp="1"/>
          </p:cNvSpPr>
          <p:nvPr/>
        </p:nvSpPr>
        <p:spPr>
          <a:xfrm>
            <a:off x="2743200" y="445770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15+ hr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B681B6-524D-495D-8381-023C07D94406}"/>
              </a:ext>
            </a:extLst>
          </p:cNvPr>
          <p:cNvSpPr>
            <a:spLocks noGrp="1"/>
          </p:cNvSpPr>
          <p:nvPr/>
        </p:nvSpPr>
        <p:spPr>
          <a:xfrm>
            <a:off x="4457700" y="42481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D224F1-6FE4-430F-AB4B-F28E015E05CA}"/>
              </a:ext>
            </a:extLst>
          </p:cNvPr>
          <p:cNvSpPr>
            <a:spLocks noGrp="1"/>
          </p:cNvSpPr>
          <p:nvPr/>
        </p:nvSpPr>
        <p:spPr>
          <a:xfrm>
            <a:off x="4457700" y="4457700"/>
            <a:ext cx="15811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Under 4 hr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3156EC-E890-4AA3-8317-9EFFDB6358F2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FE9F32-4B3B-498F-869B-C2379CE59B69}"/>
              </a:ext>
            </a:extLst>
          </p:cNvPr>
          <p:cNvSpPr>
            <a:spLocks noGrp="1"/>
          </p:cNvSpPr>
          <p:nvPr/>
        </p:nvSpPr>
        <p:spPr>
          <a:xfrm>
            <a:off x="6858000" y="2266950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F07523-5D76-4870-84BB-18A0581B1F5D}"/>
              </a:ext>
            </a:extLst>
          </p:cNvPr>
          <p:cNvSpPr>
            <a:spLocks noGrp="1"/>
          </p:cNvSpPr>
          <p:nvPr/>
        </p:nvSpPr>
        <p:spPr>
          <a:xfrm>
            <a:off x="8572500" y="22479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C8D4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4D0"/>
                </a:solidFill>
                <a:latin typeface="Arial"/>
                <a:ea typeface="Arial"/>
                <a:cs typeface="Arial"/>
              </a:rPr>
              <a:t>Company claims require retrieved, inspectable citations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79B8104-08F2-40C3-9592-27219EF12913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4381500" cy="0"/>
          </a:xfrm>
          <a:prstGeom prst="line">
            <a:avLst/>
          </a:prstGeom>
          <a:noFill/>
          <a:ln w="952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54D52C-5CD0-4D3E-8AED-96991667ADB2}"/>
              </a:ext>
            </a:extLst>
          </p:cNvPr>
          <p:cNvSpPr>
            <a:spLocks noGrp="1"/>
          </p:cNvSpPr>
          <p:nvPr/>
        </p:nvSpPr>
        <p:spPr>
          <a:xfrm>
            <a:off x="6858000" y="3048000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boundary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11CFA-AC35-4620-BC34-03105D0E4763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C8D4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4D0"/>
                </a:solidFill>
                <a:latin typeface="Arial"/>
                <a:ea typeface="Arial"/>
                <a:cs typeface="Arial"/>
              </a:rPr>
              <a:t>Raw Evaluation Oracle records stay outside runtime evidence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E542305-6B7C-4A42-A4E8-698B07536B2F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4381500" cy="0"/>
          </a:xfrm>
          <a:prstGeom prst="line">
            <a:avLst/>
          </a:prstGeom>
          <a:noFill/>
          <a:ln w="952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AAF5CE-7081-4D7D-84B0-6361D0A9215C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99A86C-B44E-4A5D-90C0-9293914626CC}"/>
              </a:ext>
            </a:extLst>
          </p:cNvPr>
          <p:cNvSpPr>
            <a:spLocks noGrp="1"/>
          </p:cNvSpPr>
          <p:nvPr/>
        </p:nvSpPr>
        <p:spPr>
          <a:xfrm>
            <a:off x="8572500" y="38100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C8D4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4D0"/>
                </a:solidFill>
                <a:latin typeface="Arial"/>
                <a:ea typeface="Arial"/>
                <a:cs typeface="Arial"/>
              </a:rPr>
              <a:t>Zero unauthorised outbound sends or executed escalated actions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CDB730D-F40C-47CE-8CEA-711C593121B2}"/>
              </a:ext>
            </a:extLst>
          </p:cNvPr>
          <p:cNvSpPr>
            <a:spLocks noGrp="1"/>
          </p:cNvSpPr>
          <p:nvPr/>
        </p:nvSpPr>
        <p:spPr>
          <a:xfrm>
            <a:off x="6858000" y="4419600"/>
            <a:ext cx="4381500" cy="0"/>
          </a:xfrm>
          <a:prstGeom prst="line">
            <a:avLst/>
          </a:prstGeom>
          <a:noFill/>
          <a:ln w="9525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630120-392E-44E8-A066-DB59D7A35543}"/>
              </a:ext>
            </a:extLst>
          </p:cNvPr>
          <p:cNvSpPr>
            <a:spLocks noGrp="1"/>
          </p:cNvSpPr>
          <p:nvPr/>
        </p:nvSpPr>
        <p:spPr>
          <a:xfrm>
            <a:off x="6858000" y="4610100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Production gap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32DE95-462E-46D8-83BC-021FA1742626}"/>
              </a:ext>
            </a:extLst>
          </p:cNvPr>
          <p:cNvSpPr>
            <a:spLocks noGrp="1"/>
          </p:cNvSpPr>
          <p:nvPr/>
        </p:nvSpPr>
        <p:spPr>
          <a:xfrm>
            <a:off x="8572500" y="459105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 i="0">
                <a:solidFill>
                  <a:srgbClr val="C8D4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4D0"/>
                </a:solidFill>
                <a:latin typeface="Arial"/>
                <a:ea typeface="Arial"/>
                <a:cs typeface="Arial"/>
              </a:rPr>
              <a:t>SSO, fine-grained permissions, monitoring, and memory controls remain required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22073497-42FF-407D-94F4-2C626748333A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553700" cy="0"/>
          </a:xfrm>
          <a:prstGeom prst="line">
            <a:avLst/>
          </a:prstGeom>
          <a:noFill/>
          <a:ln w="14288">
            <a:solidFill>
              <a:srgbClr val="4A6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E45BE1-BEDE-49B1-A035-52093AF64037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All time baselines and targets are working assumptions to validate in the pilot.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71EB4C-0E8D-4679-9A80-9A3649CCD170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146FF4-9FC8-4184-89B8-21DC166B6A67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225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19F07D-73D0-4236-8EB6-3908F91E493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RECOMMENDED PILOT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7F639-35C8-43A9-9B9E-AD0B33C8891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99060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bounded pilot tests value before Kaki.ai expands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E698C-B06C-4212-8F1B-ECB8B51A1657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D7455-19B5-411F-93EB-9EC8962233E8}"/>
              </a:ext>
            </a:extLst>
          </p:cNvPr>
          <p:cNvSpPr>
            <a:spLocks noGrp="1"/>
          </p:cNvSpPr>
          <p:nvPr/>
        </p:nvSpPr>
        <p:spPr>
          <a:xfrm>
            <a:off x="1409700" y="236220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Establish the baseline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FD2A1D-EFDA-44F7-9807-B9EDC2FB849C}"/>
              </a:ext>
            </a:extLst>
          </p:cNvPr>
          <p:cNvSpPr>
            <a:spLocks noGrp="1"/>
          </p:cNvSpPr>
          <p:nvPr/>
        </p:nvSpPr>
        <p:spPr>
          <a:xfrm>
            <a:off x="4629150" y="2343150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D7E0D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0DC"/>
                </a:solidFill>
                <a:latin typeface="Arial"/>
                <a:ea typeface="Arial"/>
                <a:cs typeface="Arial"/>
              </a:rPr>
              <a:t>Use representative company questions, one recurring meeting workflow, and one active hiring role.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5482E21-EF56-43DC-B64A-9F2E2B35AFF0}"/>
              </a:ext>
            </a:extLst>
          </p:cNvPr>
          <p:cNvSpPr>
            <a:spLocks noGrp="1"/>
          </p:cNvSpPr>
          <p:nvPr/>
        </p:nvSpPr>
        <p:spPr>
          <a:xfrm>
            <a:off x="1409700" y="3143250"/>
            <a:ext cx="9791700" cy="0"/>
          </a:xfrm>
          <a:prstGeom prst="line">
            <a:avLst/>
          </a:prstGeom>
          <a:noFill/>
          <a:ln w="9525">
            <a:solidFill>
              <a:srgbClr val="527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2E429-4183-4F9C-A4B0-B4E886037D06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77C32-3232-4C85-B25F-5A643844698F}"/>
              </a:ext>
            </a:extLst>
          </p:cNvPr>
          <p:cNvSpPr>
            <a:spLocks noGrp="1"/>
          </p:cNvSpPr>
          <p:nvPr/>
        </p:nvSpPr>
        <p:spPr>
          <a:xfrm>
            <a:off x="1409700" y="346710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with controls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2986F-A4B0-4B74-95A5-909052658E52}"/>
              </a:ext>
            </a:extLst>
          </p:cNvPr>
          <p:cNvSpPr>
            <a:spLocks noGrp="1"/>
          </p:cNvSpPr>
          <p:nvPr/>
        </p:nvSpPr>
        <p:spPr>
          <a:xfrm>
            <a:off x="4629150" y="3448050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D7E0D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0DC"/>
                </a:solidFill>
                <a:latin typeface="Arial"/>
                <a:ea typeface="Arial"/>
                <a:cs typeface="Arial"/>
              </a:rPr>
              <a:t>Limit access to approved sources, preserve evidence inspection, and keep every external handoff user-controlled.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187B270-918C-4862-AEED-84D15EBDCE8E}"/>
              </a:ext>
            </a:extLst>
          </p:cNvPr>
          <p:cNvSpPr>
            <a:spLocks noGrp="1"/>
          </p:cNvSpPr>
          <p:nvPr/>
        </p:nvSpPr>
        <p:spPr>
          <a:xfrm>
            <a:off x="1409700" y="4248150"/>
            <a:ext cx="9791700" cy="0"/>
          </a:xfrm>
          <a:prstGeom prst="line">
            <a:avLst/>
          </a:prstGeom>
          <a:noFill/>
          <a:ln w="9525">
            <a:solidFill>
              <a:srgbClr val="527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95F819-125E-45B0-98C4-59A2848EF151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 i="0">
                <a:solidFill>
                  <a:srgbClr val="EF6A4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F6A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56F9D-A9E6-4C3A-8FEE-505B39C4322C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Decide from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35D32D-178D-49F7-AD76-85D06D4994A3}"/>
              </a:ext>
            </a:extLst>
          </p:cNvPr>
          <p:cNvSpPr>
            <a:spLocks noGrp="1"/>
          </p:cNvSpPr>
          <p:nvPr/>
        </p:nvSpPr>
        <p:spPr>
          <a:xfrm>
            <a:off x="4629150" y="4552950"/>
            <a:ext cx="65722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 i="0">
                <a:solidFill>
                  <a:srgbClr val="D7E0D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0DC"/>
                </a:solidFill>
                <a:latin typeface="Arial"/>
                <a:ea typeface="Arial"/>
                <a:cs typeface="Arial"/>
              </a:rPr>
              <a:t>Expand only if handling time, action follow-through, traceability, and safety meet the agreed measures.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6E6FEBE-D7A3-4F1B-9F75-25148CCFA1C8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515600" cy="0"/>
          </a:xfrm>
          <a:prstGeom prst="line">
            <a:avLst/>
          </a:prstGeom>
          <a:noFill/>
          <a:ln w="38100">
            <a:solidFill>
              <a:srgbClr val="EF6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2B8B2E-351C-4EB7-96F6-57C6EBA3090C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Decision request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81879D-D9AF-4906-825D-DCDFF5EB4955}"/>
              </a:ext>
            </a:extLst>
          </p:cNvPr>
          <p:cNvSpPr>
            <a:spLocks noGrp="1"/>
          </p:cNvSpPr>
          <p:nvPr/>
        </p:nvSpPr>
        <p:spPr>
          <a:xfrm>
            <a:off x="2590800" y="5924550"/>
            <a:ext cx="752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a measured internal pilot of the connected workflow.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4F0068-1A94-4250-A830-19FF59086847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3810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1" i="0">
                <a:solidFill>
                  <a:srgbClr val="AFC0B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FC0BA"/>
                </a:solidFill>
                <a:latin typeface="Arial"/>
                <a:ea typeface="Arial"/>
                <a:cs typeface="Arial"/>
              </a:rPr>
              <a:t>KAKI.AI  |  STELLAR ARK AI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870DD-2E7F-4DD6-B5AA-34B4121B7F39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25" b="1" i="0">
                <a:solidFill>
                  <a:srgbClr val="D9B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9BF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53277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Macintosh PowerPoint</Application>
  <DocSecurity>0</DocSecurity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VRmemory CS4240</cp:lastModifiedBy>
  <cp:revision>1</cp:revision>
  <dcterms:created xsi:type="dcterms:W3CDTF">2026-09-27T22:45:14Z</dcterms:created>
  <dcterms:modified xsi:type="dcterms:W3CDTF">2026-09-27T22:53:10Z</dcterms:modified>
</cp:coreProperties>
</file>