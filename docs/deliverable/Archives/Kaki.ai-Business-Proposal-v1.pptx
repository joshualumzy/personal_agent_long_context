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0"/>
  </p:normalViewPr>
  <p:slideViewPr>
    <p:cSldViewPr snapToGrid="0">
      <p:cViewPr varScale="1">
        <p:scale>
          <a:sx n="91" d="100"/>
          <a:sy n="91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Initial target</c:v>
          </c:tx>
          <c:spPr>
            <a:solidFill>
              <a:srgbClr val="126D5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0B4938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Company context</c:v>
                </c:pt>
                <c:pt idx="1">
                  <c:v>Meeting draft</c:v>
                </c:pt>
                <c:pt idx="2">
                  <c:v>Recruiting administration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9E-A641-95D0-7C1081094D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DDD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8D0CA"/>
            </a:solidFill>
          </a:ln>
        </c:spPr>
        <c:txPr>
          <a:bodyPr anchorCtr="1"/>
          <a:lstStyle/>
          <a:p>
            <a:pPr>
              <a:defRPr sz="975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1E8"/>
        </a:solidFill>
      </c:spPr>
    </c:plotArea>
    <c:plotVisOnly val="1"/>
    <c:dispBlanksAs val="zero"/>
    <c:showDLblsOverMax val="1"/>
  </c:chart>
  <c:spPr>
    <a:solidFill>
      <a:srgbClr val="F4F1E8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SME-Operating-Agent-Business-Proposal-Revised.docx. Current product boundary verified against docs/mvp.md and GEMINI.md. Mascot asset from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attached proposal, docs/mvp.md, GEMINI.md. The proposal's meeting and recruiting capabilities are presented as future extensions to match the current MVP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attached proposal, Current Workflow and Consequence table. Current capability boundary from docs/mvp.md.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docs/mvp.md, MVP workflow and claim boundary. GEMINI.md, strict evidence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docs/mvp.md and GEMINI.md. Workplace writes and Proposed Action approval are deferred from the current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docs/mvp.md, Runtime Data Boundary and Architecture. CONTEXT.md definitions for Company Evidence and Personal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docs/mvp.md Architecture and GEMINI.md Active Product Surface. Diagram is an editable simplification of the documented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attached proposal, Business Value and Outcomes. Values are proposed success targets. The chart compares thresholds for different measures and should not be read as a like-for-like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docs/mvp.md and GEMINI.md. Counts and record types reflect the current synthetic OrgForge corpus. Model routes are NUS SoCLaaS and AWS 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attached proposal for expansion concepts. Current-stage boundary verified against docs/mvp.md. Proposed Actions and workplace writes remain deferred.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attached proposal, Scalable Operating Shape and How Impact Will Be Measured. Pilot scope narrowed to the current MVP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attached proposal and docs/mvp.md. The proposed decision is an editorial recommendation derived from the proposal's feasibility and measurement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971DE0-E3C4-46DF-B2D5-243B6B7BDCE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26D5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8C9D16-AA96-407E-8AD8-35E356BD7E46}"/>
              </a:ext>
            </a:extLst>
          </p:cNvPr>
          <p:cNvSpPr>
            <a:spLocks noGrp="1"/>
          </p:cNvSpPr>
          <p:nvPr/>
        </p:nvSpPr>
        <p:spPr>
          <a:xfrm>
            <a:off x="685799" y="1428750"/>
            <a:ext cx="7304649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SG" sz="435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Kaki.AI</a:t>
            </a:r>
            <a:endParaRPr lang="en-SG" sz="4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4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</a:t>
            </a:r>
            <a:r>
              <a:rPr sz="4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SME</a:t>
            </a:r>
            <a:r>
              <a:rPr lang="en-US"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Operating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24E9D-73B6-4B79-BB9C-93201FC2F564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5810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 i="0">
                <a:solidFill>
                  <a:srgbClr val="D8E2D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8E2DD"/>
                </a:solidFill>
                <a:latin typeface="Arial"/>
                <a:ea typeface="Arial"/>
                <a:cs typeface="Arial"/>
              </a:rPr>
              <a:t>Company evidence and personal working context in one read-only employee assistant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077847E-58CE-4004-9CF8-233BFEA4E94F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5429250" cy="0"/>
          </a:xfrm>
          <a:prstGeom prst="line">
            <a:avLst/>
          </a:prstGeom>
          <a:noFill/>
          <a:ln w="38100">
            <a:solidFill>
              <a:srgbClr val="E86C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830EC-4F13-4F6B-B992-2F179984A64F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628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B8C4B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4BF"/>
                </a:solidFill>
                <a:latin typeface="Arial"/>
                <a:ea typeface="Arial"/>
                <a:cs typeface="Arial"/>
              </a:rPr>
              <a:t>Stellar Ark AI  |  Show Me Your Agents  |  27 September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E3585-5455-4119-A712-7594427952E8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Current MVP proposition</a:t>
            </a:r>
          </a:p>
        </p:txBody>
      </p:sp>
      <p:pic>
        <p:nvPicPr>
          <p:cNvPr id="16" name="Picture 15" descr="A cartoon lion with a fish tail&#10;&#10;AI-generated content may be incorrect.">
            <a:extLst>
              <a:ext uri="{FF2B5EF4-FFF2-40B4-BE49-F238E27FC236}">
                <a16:creationId xmlns:a16="http://schemas.microsoft.com/office/drawing/2014/main" id="{19877F03-C423-D848-C7E8-66049826C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130" y="1269281"/>
            <a:ext cx="4319438" cy="43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8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FEDF6A7-A734-442F-8A00-0F91194DF88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AA93F5-A053-486E-9E6B-DAA21A7BBEB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Execution capacity is the business case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E85A6F2-9ECB-4988-A9AC-32911E566AC8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57255-367A-448D-99CD-4A5F8B4846CA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78105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Small teams lose time when employees repeatedly reconstruct company history across messages, tickets, documents, meetings, and personal notes.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C8CEBD-075D-466A-A665-742ACECCEB7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7334250" cy="1314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The current MVP solves the first and most defensible part of that problem: it answers company questions from inspectable evidence, keeps employee context separate, and names uncertainty when the evidence is insufficient.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B88E0-680B-4EA2-A3CB-865D8B3D0109}"/>
              </a:ext>
            </a:extLst>
          </p:cNvPr>
          <p:cNvSpPr>
            <a:spLocks noGrp="1"/>
          </p:cNvSpPr>
          <p:nvPr/>
        </p:nvSpPr>
        <p:spPr>
          <a:xfrm>
            <a:off x="8820150" y="2000250"/>
            <a:ext cx="2381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4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4,966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4880-E54A-426B-8B89-50F0B5E45E08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286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employee-visible synthetic artifacts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D2978F-5F4E-4AB8-8505-6694BF23678C}"/>
              </a:ext>
            </a:extLst>
          </p:cNvPr>
          <p:cNvSpPr>
            <a:spLocks noGrp="1"/>
          </p:cNvSpPr>
          <p:nvPr/>
        </p:nvSpPr>
        <p:spPr>
          <a:xfrm>
            <a:off x="8820150" y="3657600"/>
            <a:ext cx="2381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4050" b="1" i="0">
                <a:solidFill>
                  <a:srgbClr val="E86C52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E86C52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86E75-591A-45C3-9FCE-A1945096F23E}"/>
              </a:ext>
            </a:extLst>
          </p:cNvPr>
          <p:cNvSpPr>
            <a:spLocks noGrp="1"/>
          </p:cNvSpPr>
          <p:nvPr/>
        </p:nvSpPr>
        <p:spPr>
          <a:xfrm>
            <a:off x="8915400" y="4381500"/>
            <a:ext cx="2286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employee personas with scoped context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646A823-500E-41B1-9EA5-75B00B9A7E5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515600" cy="0"/>
          </a:xfrm>
          <a:prstGeom prst="line">
            <a:avLst/>
          </a:prstGeom>
          <a:noFill/>
          <a:ln w="9525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5AC3C-5B80-4C85-BC9F-DC0EE105CFF8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Proposed expansion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0F0B3-B0C8-47DA-946D-FB5404DF558C}"/>
              </a:ext>
            </a:extLst>
          </p:cNvPr>
          <p:cNvSpPr>
            <a:spLocks noGrp="1"/>
          </p:cNvSpPr>
          <p:nvPr/>
        </p:nvSpPr>
        <p:spPr>
          <a:xfrm>
            <a:off x="2819400" y="5429250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Meeting follow-up and recruiting remain staged extensions after the evidence-grounded assistant proves value and operating controls.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E356C-A580-4DE0-9C4A-478EE616410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6EEF7-AE3A-409E-A881-22B1838FA76D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197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F42187-9028-4AA5-91D9-AA27A94B108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PROBLEM AND OPPORTUNITY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98653-86EC-4147-9668-8909CED5750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Three recurring tasks compete with core delivery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043E5A4-5DF9-496C-BA34-F3F2ED017A1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685800" y="1866900"/>
          <a:ext cx="10820400" cy="3333752"/>
        </p:xfrm>
        <a:graphic>
          <a:graphicData uri="http://schemas.openxmlformats.org/drawingml/2006/table">
            <a:tbl>
              <a:tblPr firstRow="1" bandRow="1"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task</a:t>
                      </a:r>
                    </a:p>
                  </a:txBody>
                  <a:tcPr marL="133350" marR="133350" marT="95250" marB="95250" anchor="ctr">
                    <a:solidFill>
                      <a:srgbClr val="0B4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Manual friction</a:t>
                      </a:r>
                    </a:p>
                  </a:txBody>
                  <a:tcPr marL="133350" marR="133350" marT="95250" marB="95250" anchor="ctr">
                    <a:solidFill>
                      <a:srgbClr val="0B4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consequence</a:t>
                      </a:r>
                    </a:p>
                  </a:txBody>
                  <a:tcPr marL="133350" marR="133350" marT="95250" marB="95250" anchor="ctr">
                    <a:solidFill>
                      <a:srgbClr val="0B49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Answer a company question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Search several systems and reconstruct the history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Slower answers and decisions based on incomplete context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Follow up a meeting decision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Interpret notes, gather details, draft work, and remember ownership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Actions may be delayed, duplicated, or missed</a:t>
                      </a:r>
                    </a:p>
                  </a:txBody>
                  <a:tcPr marL="133350" marR="13335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Run founder-led hiring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Define criteria, search profiles, compare candidates, and chase replies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1D"/>
                          </a:solidFill>
                          <a:latin typeface="Arial"/>
                          <a:ea typeface="Arial"/>
                          <a:cs typeface="Arial"/>
                        </a:rPr>
                        <a:t>Recruiting competes with product, customer, and leadership work</a:t>
                      </a:r>
                    </a:p>
                  </a:txBody>
                  <a:tcPr marL="133350" marR="133350" marT="95250" marB="95250" anchor="ctr">
                    <a:solidFill>
                      <a:srgbClr val="F0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A67D016-3D93-4A20-B91E-B7DCD5D5215C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 i="0">
                <a:solidFill>
                  <a:srgbClr val="0B49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4938"/>
                </a:solidFill>
                <a:latin typeface="Arial"/>
                <a:ea typeface="Arial"/>
                <a:cs typeface="Arial"/>
              </a:rPr>
              <a:t>The MVP addresses the first task now. The other two define a credible expansion path after the core evidence workflow proves useful.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B42B1-462F-4BF8-A55F-6877909D302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F1BEE-FAAE-43C3-B8A7-F29883145EA8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728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679ACF0-14B4-4F78-93B8-0D741B940DD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MVP PROPOSITION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1FFF7A-12D3-4112-A723-18DFBFEA670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reliable answer starts with inspectable evidence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84D3640-77F2-4A5A-87E1-4228A322888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466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08F28-B1D3-4D3A-92E5-085B88E6E876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2A1E5-7D9E-4210-9E91-8A8191745750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6670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An employee asks a question that spans fragmented company systems.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6B9769-1694-4843-B046-189B4E7EE131}"/>
              </a:ext>
            </a:extLst>
          </p:cNvPr>
          <p:cNvSpPr>
            <a:spLocks noGrp="1"/>
          </p:cNvSpPr>
          <p:nvPr/>
        </p:nvSpPr>
        <p:spPr>
          <a:xfrm>
            <a:off x="4648200" y="21336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DAA4A-4BAF-4BEF-8A50-C24A69244F8F}"/>
              </a:ext>
            </a:extLst>
          </p:cNvPr>
          <p:cNvSpPr>
            <a:spLocks noGrp="1"/>
          </p:cNvSpPr>
          <p:nvPr/>
        </p:nvSpPr>
        <p:spPr>
          <a:xfrm>
            <a:off x="4648200" y="2724150"/>
            <a:ext cx="27432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The agent combines keyword search, vector search, and explicit artifact links.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E250D-2CED-4FA0-95CD-794367B6F181}"/>
              </a:ext>
            </a:extLst>
          </p:cNvPr>
          <p:cNvSpPr>
            <a:spLocks noGrp="1"/>
          </p:cNvSpPr>
          <p:nvPr/>
        </p:nvSpPr>
        <p:spPr>
          <a:xfrm>
            <a:off x="8458200" y="21336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9A7D0-EF38-47AF-9A90-97E91345DA85}"/>
              </a:ext>
            </a:extLst>
          </p:cNvPr>
          <p:cNvSpPr>
            <a:spLocks noGrp="1"/>
          </p:cNvSpPr>
          <p:nvPr/>
        </p:nvSpPr>
        <p:spPr>
          <a:xfrm>
            <a:off x="8458200" y="2724150"/>
            <a:ext cx="27432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The answer cites only evidence retrieved in that run. Every source opens for review.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7902E00-5BCF-470F-8794-DA0A381D4528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10363200" cy="0"/>
          </a:xfrm>
          <a:prstGeom prst="line">
            <a:avLst/>
          </a:prstGeom>
          <a:noFill/>
          <a:ln w="19050">
            <a:solidFill>
              <a:srgbClr val="4053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42CF2-E52B-4948-891F-4D5C9410A11C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9715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If the evidence cannot support an answer, the agent returns Insufficient Evidence instead of inventing a conclusion.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5F3717-1872-4EA1-989D-07762DB07F5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6934C-F2BA-4102-A465-8DDFC8528E8D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351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0B96503-70E2-41BE-A838-69158368385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EMPLOYEE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F17170-4CD0-4C38-8B7E-D5021E68029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The employee stays in control of the answer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7EAB5A6-01F3-4A4B-8FD1-F1D849B2DFB5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06F191C-6397-494A-A1BD-C872CB0135EE}"/>
              </a:ext>
            </a:extLst>
          </p:cNvPr>
          <p:cNvSpPr>
            <a:spLocks noGrp="1"/>
          </p:cNvSpPr>
          <p:nvPr/>
        </p:nvSpPr>
        <p:spPr>
          <a:xfrm>
            <a:off x="1295400" y="2571750"/>
            <a:ext cx="9601200" cy="0"/>
          </a:xfrm>
          <a:prstGeom prst="line">
            <a:avLst/>
          </a:prstGeom>
          <a:noFill/>
          <a:ln w="28575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307D6E-5BAD-4330-B1FB-4D2BFE625D40}"/>
              </a:ext>
            </a:extLst>
          </p:cNvPr>
          <p:cNvSpPr>
            <a:spLocks noGrp="1"/>
          </p:cNvSpPr>
          <p:nvPr/>
        </p:nvSpPr>
        <p:spPr>
          <a:xfrm>
            <a:off x="1085850" y="2362200"/>
            <a:ext cx="419100" cy="419100"/>
          </a:xfrm>
          <a:prstGeom prst="ellipse">
            <a:avLst/>
          </a:prstGeom>
          <a:solidFill>
            <a:srgbClr val="126D52"/>
          </a:solidFill>
          <a:ln w="38100">
            <a:solidFill>
              <a:srgbClr val="F4F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6FB3D-EEFF-4AAC-B653-84D808579A1F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FB8BB-E39F-4C52-B95F-C673C05B420D}"/>
              </a:ext>
            </a:extLst>
          </p:cNvPr>
          <p:cNvSpPr>
            <a:spLocks noGrp="1"/>
          </p:cNvSpPr>
          <p:nvPr/>
        </p:nvSpPr>
        <p:spPr>
          <a:xfrm>
            <a:off x="419100" y="3086100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Choose a persona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E2CC54-4734-4DA5-9D1E-3F189CE3675F}"/>
              </a:ext>
            </a:extLst>
          </p:cNvPr>
          <p:cNvSpPr>
            <a:spLocks noGrp="1"/>
          </p:cNvSpPr>
          <p:nvPr/>
        </p:nvSpPr>
        <p:spPr>
          <a:xfrm>
            <a:off x="152400" y="3733800"/>
            <a:ext cx="2286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The active employee determines the visible working context.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AC298A-A7D5-4553-AE01-813CAEE58FCE}"/>
              </a:ext>
            </a:extLst>
          </p:cNvPr>
          <p:cNvSpPr>
            <a:spLocks noGrp="1"/>
          </p:cNvSpPr>
          <p:nvPr/>
        </p:nvSpPr>
        <p:spPr>
          <a:xfrm>
            <a:off x="4286250" y="2362200"/>
            <a:ext cx="419100" cy="419100"/>
          </a:xfrm>
          <a:prstGeom prst="ellipse">
            <a:avLst/>
          </a:prstGeom>
          <a:solidFill>
            <a:srgbClr val="126D52"/>
          </a:solidFill>
          <a:ln w="38100">
            <a:solidFill>
              <a:srgbClr val="F4F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CAAA7-68F9-4EA7-AB7F-0D7844F52631}"/>
              </a:ext>
            </a:extLst>
          </p:cNvPr>
          <p:cNvSpPr>
            <a:spLocks noGrp="1"/>
          </p:cNvSpPr>
          <p:nvPr/>
        </p:nvSpPr>
        <p:spPr>
          <a:xfrm>
            <a:off x="4343400" y="2457450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B978F5-6913-4E4E-8105-7FE0C2E70813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Ask a company question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601909-6A0E-4E66-B556-8E0E83DD8C06}"/>
              </a:ext>
            </a:extLst>
          </p:cNvPr>
          <p:cNvSpPr>
            <a:spLocks noGrp="1"/>
          </p:cNvSpPr>
          <p:nvPr/>
        </p:nvSpPr>
        <p:spPr>
          <a:xfrm>
            <a:off x="3352800" y="3733800"/>
            <a:ext cx="2286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Live progress makes retrieval and synthesis visible.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8A6EDE-194F-450F-9E17-EB4E55D68FE6}"/>
              </a:ext>
            </a:extLst>
          </p:cNvPr>
          <p:cNvSpPr>
            <a:spLocks noGrp="1"/>
          </p:cNvSpPr>
          <p:nvPr/>
        </p:nvSpPr>
        <p:spPr>
          <a:xfrm>
            <a:off x="7486650" y="2362200"/>
            <a:ext cx="419100" cy="419100"/>
          </a:xfrm>
          <a:prstGeom prst="ellipse">
            <a:avLst/>
          </a:prstGeom>
          <a:solidFill>
            <a:srgbClr val="126D52"/>
          </a:solidFill>
          <a:ln w="38100">
            <a:solidFill>
              <a:srgbClr val="F4F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3173DD-5051-4FE4-8A4D-E7305E61CA59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1AC47-AF3C-4436-AA45-81858302E34F}"/>
              </a:ext>
            </a:extLst>
          </p:cNvPr>
          <p:cNvSpPr>
            <a:spLocks noGrp="1"/>
          </p:cNvSpPr>
          <p:nvPr/>
        </p:nvSpPr>
        <p:spPr>
          <a:xfrm>
            <a:off x="6819900" y="3086100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Review the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B3DE5B-429E-4A03-9C13-B996B455A330}"/>
              </a:ext>
            </a:extLst>
          </p:cNvPr>
          <p:cNvSpPr>
            <a:spLocks noGrp="1"/>
          </p:cNvSpPr>
          <p:nvPr/>
        </p:nvSpPr>
        <p:spPr>
          <a:xfrm>
            <a:off x="6553200" y="3733800"/>
            <a:ext cx="2286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Company claims carry inspectable source citations.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992988-05A3-471D-BC1D-8DEFB3A797DD}"/>
              </a:ext>
            </a:extLst>
          </p:cNvPr>
          <p:cNvSpPr>
            <a:spLocks noGrp="1"/>
          </p:cNvSpPr>
          <p:nvPr/>
        </p:nvSpPr>
        <p:spPr>
          <a:xfrm>
            <a:off x="10687050" y="2362200"/>
            <a:ext cx="419100" cy="419100"/>
          </a:xfrm>
          <a:prstGeom prst="ellipse">
            <a:avLst/>
          </a:prstGeom>
          <a:solidFill>
            <a:srgbClr val="E86C52"/>
          </a:solidFill>
          <a:ln w="38100">
            <a:solidFill>
              <a:srgbClr val="F4F1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7B8AD4-573B-409D-9432-9EA32F103CC4}"/>
              </a:ext>
            </a:extLst>
          </p:cNvPr>
          <p:cNvSpPr>
            <a:spLocks noGrp="1"/>
          </p:cNvSpPr>
          <p:nvPr/>
        </p:nvSpPr>
        <p:spPr>
          <a:xfrm>
            <a:off x="10744200" y="2457450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10985E-6AB0-4142-B27F-4A0EDF367C01}"/>
              </a:ext>
            </a:extLst>
          </p:cNvPr>
          <p:cNvSpPr>
            <a:spLocks noGrp="1"/>
          </p:cNvSpPr>
          <p:nvPr/>
        </p:nvSpPr>
        <p:spPr>
          <a:xfrm>
            <a:off x="10020300" y="3086100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Check 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FD0091-6ABA-43E0-92F8-4DA82D2F2F15}"/>
              </a:ext>
            </a:extLst>
          </p:cNvPr>
          <p:cNvSpPr>
            <a:spLocks noGrp="1"/>
          </p:cNvSpPr>
          <p:nvPr/>
        </p:nvSpPr>
        <p:spPr>
          <a:xfrm>
            <a:off x="9753600" y="3733800"/>
            <a:ext cx="2286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Personal Memory appears separately from Company Evidence.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7709C6-31D4-4CE5-9CD9-31E58C658476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Read-only by design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B6B99-0E07-42F1-BB9C-1D1BBD8A48B1}"/>
              </a:ext>
            </a:extLst>
          </p:cNvPr>
          <p:cNvSpPr>
            <a:spLocks noGrp="1"/>
          </p:cNvSpPr>
          <p:nvPr/>
        </p:nvSpPr>
        <p:spPr>
          <a:xfrm>
            <a:off x="3162300" y="5257800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The MVP does not execute workplace writes, send messages, or update external systems.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913EF-21AE-4DE8-A27B-0C571255B92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FC658B-94EA-4341-AE8F-A3EEE1C8511B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883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1644BED-E4BE-492C-BCD7-4BA805497B1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TRUST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A3411D-C753-417B-8732-CE8A3B712D7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Evidence and memory have different roles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CF93C90-42CD-4CD9-AE32-723D29002342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6C55FD-68DC-4C0B-A433-D097B3DBC535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067300" cy="3390900"/>
          </a:xfrm>
          <a:prstGeom prst="roundRect">
            <a:avLst>
              <a:gd name="adj" fmla="val 4494"/>
            </a:avLst>
          </a:prstGeom>
          <a:solidFill>
            <a:srgbClr val="E5EFEA"/>
          </a:solidFill>
          <a:ln w="19050">
            <a:solidFill>
              <a:srgbClr val="AFC9B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A81691-1014-4A07-A915-026B12F233BD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5067300" cy="3390900"/>
          </a:xfrm>
          <a:prstGeom prst="roundRect">
            <a:avLst>
              <a:gd name="adj" fmla="val 4494"/>
            </a:avLst>
          </a:prstGeom>
          <a:solidFill>
            <a:srgbClr val="F0ECFA"/>
          </a:solidFill>
          <a:ln w="19050">
            <a:solidFill>
              <a:srgbClr val="CEC7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28D24-59D4-4881-B59B-B19C12C146C5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 i="0">
                <a:solidFill>
                  <a:srgbClr val="0B49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4938"/>
                </a:solidFill>
                <a:latin typeface="Arial"/>
                <a:ea typeface="Arial"/>
                <a:cs typeface="Arial"/>
              </a:rPr>
              <a:t>Company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A1ED4-3276-4D6B-BD42-D1460D84BDAC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PostgreSQL + pgvector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A2550-EF33-4DF1-B2DC-8E8E5E725E97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4038600" cy="175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Employee-visible workplace artifacts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Keyword and semantic retrieval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Explicit links between related artifacts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Required citations for company claims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6AA46-5486-4E2E-AB08-C3ED72D6D7FE}"/>
              </a:ext>
            </a:extLst>
          </p:cNvPr>
          <p:cNvSpPr>
            <a:spLocks noGrp="1"/>
          </p:cNvSpPr>
          <p:nvPr/>
        </p:nvSpPr>
        <p:spPr>
          <a:xfrm>
            <a:off x="6743700" y="220980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 i="0">
                <a:solidFill>
                  <a:srgbClr val="554B8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54B8B"/>
                </a:solidFill>
                <a:latin typeface="Arial"/>
                <a:ea typeface="Arial"/>
                <a:cs typeface="Arial"/>
              </a:rPr>
              <a:t>Personal 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80CE23-81F1-422F-9EE4-269AC67C0F61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6E62A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E62A6"/>
                </a:solidFill>
                <a:latin typeface="Arial"/>
                <a:ea typeface="Arial"/>
                <a:cs typeface="Arial"/>
              </a:rPr>
              <a:t>Letta, scoped per employee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F628D-04FF-4DA0-9C0E-F38AFCC4D5AD}"/>
              </a:ext>
            </a:extLst>
          </p:cNvPr>
          <p:cNvSpPr>
            <a:spLocks noGrp="1"/>
          </p:cNvSpPr>
          <p:nvPr/>
        </p:nvSpPr>
        <p:spPr>
          <a:xfrm>
            <a:off x="6743700" y="3162300"/>
            <a:ext cx="4038600" cy="175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Role, assignments, and confirmed working context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Continuity across interactions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Visible as context, not factual evidence</a:t>
            </a:r>
          </a:p>
          <a:p>
            <a:endParaRPr sz="1350" b="0" i="0">
              <a:solidFill>
                <a:srgbClr val="14201D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Never stores the OrgForge corpus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57DA87-97A4-41A0-BBA9-85C9D75FC182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The separation makes source review possible without turning personal context into company truth.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0F1472-B975-4D95-AFB3-0F0ED8D60A5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A741D8-AB01-40B2-8400-A83E9A9A050A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772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19F00D-8402-408B-9675-5A78FD40C76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656F06-7046-4B6F-83CE-A240BDF08FD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modular monolith keeps the MVP boundary explicit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D7529A5-C4CA-4F18-A65E-205A507099F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466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DC03E2-23C3-4E59-8BC0-3C700D2B033B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00250" cy="990600"/>
          </a:xfrm>
          <a:prstGeom prst="roundRect">
            <a:avLst>
              <a:gd name="adj" fmla="val 11538"/>
            </a:avLst>
          </a:prstGeom>
          <a:solidFill>
            <a:srgbClr val="254039"/>
          </a:solidFill>
          <a:ln w="19050">
            <a:solidFill>
              <a:srgbClr val="5C786F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UI</a:t>
            </a:r>
          </a:p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SSE + source inspection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95A8B9-B457-40D9-A517-DE5B534E3B46}"/>
              </a:ext>
            </a:extLst>
          </p:cNvPr>
          <p:cNvSpPr>
            <a:spLocks noGrp="1"/>
          </p:cNvSpPr>
          <p:nvPr/>
        </p:nvSpPr>
        <p:spPr>
          <a:xfrm>
            <a:off x="3600450" y="2000250"/>
            <a:ext cx="2476500" cy="1371600"/>
          </a:xfrm>
          <a:prstGeom prst="roundRect">
            <a:avLst>
              <a:gd name="adj" fmla="val 8333"/>
            </a:avLst>
          </a:prstGeom>
          <a:solidFill>
            <a:srgbClr val="126D52"/>
          </a:solidFill>
          <a:ln w="19050">
            <a:solidFill>
              <a:srgbClr val="63A78F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Fastify application</a:t>
            </a:r>
          </a:p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Auth, conversations, validation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E172C0-AADC-47AB-A642-E66BC3421222}"/>
              </a:ext>
            </a:extLst>
          </p:cNvPr>
          <p:cNvSpPr>
            <a:spLocks noGrp="1"/>
          </p:cNvSpPr>
          <p:nvPr/>
        </p:nvSpPr>
        <p:spPr>
          <a:xfrm>
            <a:off x="6991350" y="2000250"/>
            <a:ext cx="2381250" cy="1371600"/>
          </a:xfrm>
          <a:prstGeom prst="roundRect">
            <a:avLst>
              <a:gd name="adj" fmla="val 8333"/>
            </a:avLst>
          </a:prstGeom>
          <a:solidFill>
            <a:srgbClr val="7F6FC0"/>
          </a:solidFill>
          <a:ln w="19050">
            <a:solidFill>
              <a:srgbClr val="AFA5DC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reasoning loop</a:t>
            </a:r>
          </a:p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SoCLaaS or AWS Bedrock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581641-F383-4C3E-8E56-CD2FAEE702B8}"/>
              </a:ext>
            </a:extLst>
          </p:cNvPr>
          <p:cNvSpPr>
            <a:spLocks noGrp="1"/>
          </p:cNvSpPr>
          <p:nvPr/>
        </p:nvSpPr>
        <p:spPr>
          <a:xfrm>
            <a:off x="6286500" y="4343400"/>
            <a:ext cx="2381250" cy="1143000"/>
          </a:xfrm>
          <a:prstGeom prst="roundRect">
            <a:avLst>
              <a:gd name="adj" fmla="val 10000"/>
            </a:avLst>
          </a:prstGeom>
          <a:solidFill>
            <a:srgbClr val="E5EFEA"/>
          </a:solidFill>
          <a:ln w="19050">
            <a:solidFill>
              <a:srgbClr val="8BAE9F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49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938"/>
                </a:solidFill>
                <a:latin typeface="Arial"/>
                <a:ea typeface="Arial"/>
                <a:cs typeface="Arial"/>
              </a:rPr>
              <a:t>PostgreSQL</a:t>
            </a:r>
          </a:p>
          <a:p>
            <a:pPr algn="ctr">
              <a:defRPr sz="1275" b="1">
                <a:solidFill>
                  <a:srgbClr val="0B49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938"/>
                </a:solidFill>
                <a:latin typeface="Arial"/>
                <a:ea typeface="Arial"/>
                <a:cs typeface="Arial"/>
              </a:rPr>
              <a:t>Evidence, vectors, links, history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C680E7-5B4A-4435-BEEE-7DC9A3784BAB}"/>
              </a:ext>
            </a:extLst>
          </p:cNvPr>
          <p:cNvSpPr>
            <a:spLocks noGrp="1"/>
          </p:cNvSpPr>
          <p:nvPr/>
        </p:nvSpPr>
        <p:spPr>
          <a:xfrm>
            <a:off x="9620250" y="4343400"/>
            <a:ext cx="1885950" cy="1143000"/>
          </a:xfrm>
          <a:prstGeom prst="roundRect">
            <a:avLst>
              <a:gd name="adj" fmla="val 10000"/>
            </a:avLst>
          </a:prstGeom>
          <a:solidFill>
            <a:srgbClr val="F0ECFA"/>
          </a:solidFill>
          <a:ln w="19050">
            <a:solidFill>
              <a:srgbClr val="AFA5DC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554B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4B8B"/>
                </a:solidFill>
                <a:latin typeface="Arial"/>
                <a:ea typeface="Arial"/>
                <a:cs typeface="Arial"/>
              </a:rPr>
              <a:t>Letta</a:t>
            </a:r>
          </a:p>
          <a:p>
            <a:pPr algn="ctr">
              <a:defRPr sz="1275" b="1">
                <a:solidFill>
                  <a:srgbClr val="554B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4B8B"/>
                </a:solidFill>
                <a:latin typeface="Arial"/>
                <a:ea typeface="Arial"/>
                <a:cs typeface="Arial"/>
              </a:rPr>
              <a:t>User-scoped memory</a:t>
            </a:r>
          </a:p>
        </p:txBody>
      </p:sp>
      <p:cxnSp>
        <p:nvCxnSpPr>
          <p:cNvPr id="24" name="Straight Arrow Connector 23"/>
          <p:cNvCxnSpPr>
            <a:stCxn id="4" idx="3"/>
            <a:endCxn id="5" idx="1"/>
          </p:cNvCxnSpPr>
          <p:nvPr/>
        </p:nvCxnSpPr>
        <p:spPr>
          <a:xfrm>
            <a:off x="2686050" y="2686050"/>
            <a:ext cx="914400" cy="0"/>
          </a:xfrm>
          <a:prstGeom prst="straightConnector1">
            <a:avLst/>
          </a:prstGeom>
          <a:ln w="28575">
            <a:solidFill>
              <a:srgbClr val="DCCB9D"/>
            </a:solidFill>
            <a:prstDash val="solid"/>
          </a:ln>
        </p:spPr>
      </p:cxnSp>
      <p:cxnSp>
        <p:nvCxnSpPr>
          <p:cNvPr id="25" name="Straight Arrow Connector 24"/>
          <p:cNvCxnSpPr>
            <a:stCxn id="5" idx="3"/>
            <a:endCxn id="6" idx="1"/>
          </p:cNvCxnSpPr>
          <p:nvPr/>
        </p:nvCxnSpPr>
        <p:spPr>
          <a:xfrm>
            <a:off x="6076950" y="2686050"/>
            <a:ext cx="914400" cy="0"/>
          </a:xfrm>
          <a:prstGeom prst="straightConnector1">
            <a:avLst/>
          </a:prstGeom>
          <a:ln w="28575">
            <a:solidFill>
              <a:srgbClr val="DCCB9D"/>
            </a:solidFill>
            <a:prstDash val="solid"/>
          </a:ln>
        </p:spPr>
      </p:cxnSp>
      <p:cxnSp>
        <p:nvCxnSpPr>
          <p:cNvPr id="26" name="Elbow Connector 25"/>
          <p:cNvCxnSpPr>
            <a:stCxn id="6" idx="2"/>
            <a:endCxn id="7" idx="0"/>
          </p:cNvCxnSpPr>
          <p:nvPr/>
        </p:nvCxnSpPr>
        <p:spPr>
          <a:xfrm flipH="1">
            <a:off x="7477125" y="3371850"/>
            <a:ext cx="704850" cy="9715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DCCB9D"/>
            </a:solidFill>
            <a:prstDash val="solid"/>
          </a:ln>
        </p:spPr>
      </p:cxnSp>
      <p:cxnSp>
        <p:nvCxnSpPr>
          <p:cNvPr id="27" name="Elbow Connector 26"/>
          <p:cNvCxnSpPr>
            <a:stCxn id="6" idx="2"/>
            <a:endCxn id="8" idx="0"/>
          </p:cNvCxnSpPr>
          <p:nvPr/>
        </p:nvCxnSpPr>
        <p:spPr>
          <a:xfrm>
            <a:off x="8181975" y="3371850"/>
            <a:ext cx="2381250" cy="9715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DCCB9D"/>
            </a:solidFill>
            <a:prstDash val="soli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75277-A6BF-4E6E-8A65-8BD0D4EBC4C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Deterministic server code validates tools and citations before the final answer is delivered.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B9A25B-6D90-4CAC-89F3-24C6B8D8CC6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A681BC-3E7A-47C8-9CDD-2C49B9DF1428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737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785996-628A-468C-877B-D7ECF9A4A11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26AB8-17E0-4CEB-B475-6F97127CF2D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Success requires measurable time savings and safe control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F2F8781-936C-4232-89D1-98880C925D62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Chart"/>
          <p:cNvGraphicFramePr/>
          <p:nvPr/>
        </p:nvGraphicFramePr>
        <p:xfrm>
          <a:off x="685800" y="1847850"/>
          <a:ext cx="685800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504CCB-7027-49BE-AAB7-B9E234E790DB}"/>
              </a:ext>
            </a:extLst>
          </p:cNvPr>
          <p:cNvSpPr>
            <a:spLocks noGrp="1"/>
          </p:cNvSpPr>
          <p:nvPr/>
        </p:nvSpPr>
        <p:spPr>
          <a:xfrm>
            <a:off x="8153400" y="19812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302B5-8DF3-4264-9883-5FA86BE3852A}"/>
              </a:ext>
            </a:extLst>
          </p:cNvPr>
          <p:cNvSpPr>
            <a:spLocks noGrp="1"/>
          </p:cNvSpPr>
          <p:nvPr/>
        </p:nvSpPr>
        <p:spPr>
          <a:xfrm>
            <a:off x="8153400" y="245745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C1E50-611C-4FF3-A8E5-01C6622D7C1C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less median time to an evidence-backed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902BB-9522-4D54-A47B-9210E43C6A12}"/>
              </a:ext>
            </a:extLst>
          </p:cNvPr>
          <p:cNvSpPr>
            <a:spLocks noGrp="1"/>
          </p:cNvSpPr>
          <p:nvPr/>
        </p:nvSpPr>
        <p:spPr>
          <a:xfrm>
            <a:off x="8153400" y="371475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E86C5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86C52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2AC540-66D8-496B-ACF8-5457FB2B5959}"/>
              </a:ext>
            </a:extLst>
          </p:cNvPr>
          <p:cNvSpPr>
            <a:spLocks noGrp="1"/>
          </p:cNvSpPr>
          <p:nvPr/>
        </p:nvSpPr>
        <p:spPr>
          <a:xfrm>
            <a:off x="8153400" y="42100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less time to a reviewable meeting-action draft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DBCDE-2C71-4EDF-B840-93FB9073352E}"/>
              </a:ext>
            </a:extLst>
          </p:cNvPr>
          <p:cNvSpPr>
            <a:spLocks noGrp="1"/>
          </p:cNvSpPr>
          <p:nvPr/>
        </p:nvSpPr>
        <p:spPr>
          <a:xfrm>
            <a:off x="8153400" y="5048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 i="0">
                <a:solidFill>
                  <a:srgbClr val="0B49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4938"/>
                </a:solidFill>
                <a:latin typeface="Arial"/>
                <a:ea typeface="Arial"/>
                <a:cs typeface="Arial"/>
              </a:rPr>
              <a:t>Zero unauthorised outbound 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03D12-AB55-4B8C-9505-79C3A53D07A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Targets are working assumptions, not achieved results. Each workflow uses a different measure.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96DFF-711B-43A3-A461-76351E43B86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4DE369-C8F6-4EF3-8C03-5E04A336FF18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490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12590E6-D4A2-493F-A4AB-A91C2414CBC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B048C-9EB8-4EDA-BBBD-FD865AE9E07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The MVP already proves the core evidence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1605AE2-871F-4FB9-989E-1C6BD9D6E8C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5550CE-0E71-45AF-982C-D72F6CD2D62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286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9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4,966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9DCE3-F647-4793-9391-BA9835134158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20193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employee-visible artifacts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21656-A3CE-4DC4-A3B8-86860F618CBA}"/>
              </a:ext>
            </a:extLst>
          </p:cNvPr>
          <p:cNvSpPr>
            <a:spLocks noGrp="1"/>
          </p:cNvSpPr>
          <p:nvPr/>
        </p:nvSpPr>
        <p:spPr>
          <a:xfrm>
            <a:off x="3390900" y="1962150"/>
            <a:ext cx="2286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9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4BB6A-C20B-43A7-ACCA-0929EFB0178C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20193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workplace record types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5AE64-9D86-4ADF-A168-23CD4989F0DA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2286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900" b="1" i="0">
                <a:solidFill>
                  <a:srgbClr val="E86C52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86C52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3596E-6AEB-41EB-886E-CF860CA3D36D}"/>
              </a:ext>
            </a:extLst>
          </p:cNvPr>
          <p:cNvSpPr>
            <a:spLocks noGrp="1"/>
          </p:cNvSpPr>
          <p:nvPr/>
        </p:nvSpPr>
        <p:spPr>
          <a:xfrm>
            <a:off x="6229350" y="2743200"/>
            <a:ext cx="20193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employee personas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1F574-AF0C-439D-BE6A-0F52128555BE}"/>
              </a:ext>
            </a:extLst>
          </p:cNvPr>
          <p:cNvSpPr>
            <a:spLocks noGrp="1"/>
          </p:cNvSpPr>
          <p:nvPr/>
        </p:nvSpPr>
        <p:spPr>
          <a:xfrm>
            <a:off x="8801100" y="1962150"/>
            <a:ext cx="22860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9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B2BFF-AF10-4E99-9297-BA092E823DF3}"/>
              </a:ext>
            </a:extLst>
          </p:cNvPr>
          <p:cNvSpPr>
            <a:spLocks noGrp="1"/>
          </p:cNvSpPr>
          <p:nvPr/>
        </p:nvSpPr>
        <p:spPr>
          <a:xfrm>
            <a:off x="8934450" y="2743200"/>
            <a:ext cx="20193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model-provider routes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0741E05-9445-49AB-9816-DC5AAD396DBB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0820400" cy="0"/>
          </a:xfrm>
          <a:prstGeom prst="line">
            <a:avLst/>
          </a:prstGeom>
          <a:noFill/>
          <a:ln w="19050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708A0-F642-46AD-8F11-3C3EB3299965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FB32F-BEE0-4B0B-A84C-F24187D9B064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Hybrid retrieval, source citation validation, employee-scoped memory, live progress, conversation persistence, and source inspection.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170D09-1F2C-41D0-BB13-5EAE5F79B2D8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E86C5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86C52"/>
                </a:solidFill>
                <a:latin typeface="Arial"/>
                <a:ea typeface="Arial"/>
                <a:cs typeface="Arial"/>
              </a:rPr>
              <a:t>Still required for production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7A3FC0-0B01-43C4-AD3B-BEA6C090D572}"/>
              </a:ext>
            </a:extLst>
          </p:cNvPr>
          <p:cNvSpPr>
            <a:spLocks noGrp="1"/>
          </p:cNvSpPr>
          <p:nvPr/>
        </p:nvSpPr>
        <p:spPr>
          <a:xfrm>
            <a:off x="6534150" y="4457700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Enterprise SSO, fine-grained authorization, memory correction controls, production operations, and broader reliability testing.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79CAA0-5E09-4D0E-8C7B-3A5E6A8BE93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9DB75E-16C7-4A4F-BF55-C177B9085B3C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066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4324A86-448A-4289-9FEC-585F4EB103D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PRODUCT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30E511-7480-4DAD-9B26-EDDC247D731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Expansion follows proof of value and operating control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AC82D41-0CE5-46FA-8A0D-348FC44C72A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466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D294E6-66DC-4C67-AF78-8D460A9B4F1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126D5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40CE3-09E1-430F-AD77-4D44A469005B}"/>
              </a:ext>
            </a:extLst>
          </p:cNvPr>
          <p:cNvSpPr>
            <a:spLocks noGrp="1"/>
          </p:cNvSpPr>
          <p:nvPr/>
        </p:nvSpPr>
        <p:spPr>
          <a:xfrm>
            <a:off x="2000250" y="20574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Evidence-grounded company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ADF0F4-01A9-4E05-BF29-4CAC4D42EE8B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Read-only answers, inspectable citations, scoped employee context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9B5ABD5-FF82-4024-8543-24D15240BB60}"/>
              </a:ext>
            </a:extLst>
          </p:cNvPr>
          <p:cNvSpPr>
            <a:spLocks noGrp="1"/>
          </p:cNvSpPr>
          <p:nvPr/>
        </p:nvSpPr>
        <p:spPr>
          <a:xfrm>
            <a:off x="2000250" y="2914650"/>
            <a:ext cx="9239250" cy="0"/>
          </a:xfrm>
          <a:prstGeom prst="line">
            <a:avLst/>
          </a:prstGeom>
          <a:noFill/>
          <a:ln w="9525">
            <a:solidFill>
              <a:srgbClr val="4053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730D1D-CB42-400A-A99F-5AEBBB77009E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86C5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7287C-4498-4F8B-B087-B32628C17CA6}"/>
              </a:ext>
            </a:extLst>
          </p:cNvPr>
          <p:cNvSpPr>
            <a:spLocks noGrp="1"/>
          </p:cNvSpPr>
          <p:nvPr/>
        </p:nvSpPr>
        <p:spPr>
          <a:xfrm>
            <a:off x="2000250" y="33528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Meeting-action preparation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80F2F-9CD8-45FE-B80A-97918F19C012}"/>
              </a:ext>
            </a:extLst>
          </p:cNvPr>
          <p:cNvSpPr>
            <a:spLocks noGrp="1"/>
          </p:cNvSpPr>
          <p:nvPr/>
        </p:nvSpPr>
        <p:spPr>
          <a:xfrm>
            <a:off x="6477000" y="339090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Transcript parsing, commitments, conflict checks, reviewable drafts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2D9DEB2-811A-43F7-A2D2-9A98429BBFDB}"/>
              </a:ext>
            </a:extLst>
          </p:cNvPr>
          <p:cNvSpPr>
            <a:spLocks noGrp="1"/>
          </p:cNvSpPr>
          <p:nvPr/>
        </p:nvSpPr>
        <p:spPr>
          <a:xfrm>
            <a:off x="2000250" y="4210050"/>
            <a:ext cx="9239250" cy="0"/>
          </a:xfrm>
          <a:prstGeom prst="line">
            <a:avLst/>
          </a:prstGeom>
          <a:noFill/>
          <a:ln w="9525">
            <a:solidFill>
              <a:srgbClr val="4053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A79523C-B7A5-4EDB-B750-C9A5CED5166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6E62A6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18649B-37E6-43FB-B295-40610C107892}"/>
              </a:ext>
            </a:extLst>
          </p:cNvPr>
          <p:cNvSpPr>
            <a:spLocks noGrp="1"/>
          </p:cNvSpPr>
          <p:nvPr/>
        </p:nvSpPr>
        <p:spPr>
          <a:xfrm>
            <a:off x="2000250" y="46482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recruiting support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2212E-E760-4918-814E-3BC22F42E598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C6D3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6D3CE"/>
                </a:solidFill>
                <a:latin typeface="Arial"/>
                <a:ea typeface="Arial"/>
                <a:cs typeface="Arial"/>
              </a:rPr>
              <a:t>Role criteria, candidate review, feedback, and outreach drafts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7E2988-1599-4491-827F-EE3774EDD1E4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Each stage keeps consequential external action behind a visible employee decision.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96B8CF-A9B2-4CF8-9998-ABD544F3056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ECF336-B637-4849-A9C0-015EFD8D3D7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689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CA6562C-75F0-4821-8D51-CBCD6BEE4C0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RECOMMENDED 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63F556-2376-4C5A-80B5-0EC64D5C9B2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A bounded pilot can test value without widening risk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4B2E21E-E18B-4E93-B26C-E972EF418F6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0"/>
          </a:xfrm>
          <a:prstGeom prst="line">
            <a:avLst/>
          </a:prstGeom>
          <a:noFill/>
          <a:ln w="14288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45E6D0-DFF7-4771-AFE5-5F70983C217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633DD4-EB5A-47D2-880E-B224BCE5700F}"/>
              </a:ext>
            </a:extLst>
          </p:cNvPr>
          <p:cNvSpPr>
            <a:spLocks noGrp="1"/>
          </p:cNvSpPr>
          <p:nvPr/>
        </p:nvSpPr>
        <p:spPr>
          <a:xfrm>
            <a:off x="1371600" y="192405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C63D9-8F2F-4951-BE17-C4DC1A619786}"/>
              </a:ext>
            </a:extLst>
          </p:cNvPr>
          <p:cNvSpPr>
            <a:spLocks noGrp="1"/>
          </p:cNvSpPr>
          <p:nvPr/>
        </p:nvSpPr>
        <p:spPr>
          <a:xfrm>
            <a:off x="3276600" y="19240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One Stellar Ark AI team, approved company sources, and representative company questions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B6883C9-C850-4025-A019-9913E9EDC974}"/>
              </a:ext>
            </a:extLst>
          </p:cNvPr>
          <p:cNvSpPr>
            <a:spLocks noGrp="1"/>
          </p:cNvSpPr>
          <p:nvPr/>
        </p:nvSpPr>
        <p:spPr>
          <a:xfrm>
            <a:off x="1371600" y="2628900"/>
            <a:ext cx="9715500" cy="0"/>
          </a:xfrm>
          <a:prstGeom prst="line">
            <a:avLst/>
          </a:prstGeom>
          <a:noFill/>
          <a:ln w="9525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39603-BC44-45D3-BDD1-1E91B8AB4C55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B1FCD6-1B92-49A3-A3BC-13C921072D27}"/>
              </a:ext>
            </a:extLst>
          </p:cNvPr>
          <p:cNvSpPr>
            <a:spLocks noGrp="1"/>
          </p:cNvSpPr>
          <p:nvPr/>
        </p:nvSpPr>
        <p:spPr>
          <a:xfrm>
            <a:off x="1371600" y="28956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D5BFB-B6A2-405F-B0ED-85A63B7813F7}"/>
              </a:ext>
            </a:extLst>
          </p:cNvPr>
          <p:cNvSpPr>
            <a:spLocks noGrp="1"/>
          </p:cNvSpPr>
          <p:nvPr/>
        </p:nvSpPr>
        <p:spPr>
          <a:xfrm>
            <a:off x="3276600" y="28956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Median handling time, manual search steps, answer confidence, and unsupported-question rate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C8D8519-D25D-459A-9D0B-54819FE96A4D}"/>
              </a:ext>
            </a:extLst>
          </p:cNvPr>
          <p:cNvSpPr>
            <a:spLocks noGrp="1"/>
          </p:cNvSpPr>
          <p:nvPr/>
        </p:nvSpPr>
        <p:spPr>
          <a:xfrm>
            <a:off x="1371600" y="3600450"/>
            <a:ext cx="9715500" cy="0"/>
          </a:xfrm>
          <a:prstGeom prst="line">
            <a:avLst/>
          </a:prstGeom>
          <a:noFill/>
          <a:ln w="9525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A27C5D-CDF2-432F-A93A-E1AD438A3D75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47719-F760-42F8-842A-E31A9BC514BF}"/>
              </a:ext>
            </a:extLst>
          </p:cNvPr>
          <p:cNvSpPr>
            <a:spLocks noGrp="1"/>
          </p:cNvSpPr>
          <p:nvPr/>
        </p:nvSpPr>
        <p:spPr>
          <a:xfrm>
            <a:off x="1371600" y="386715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F78C6E-8141-4849-A008-55299A5C9B37}"/>
              </a:ext>
            </a:extLst>
          </p:cNvPr>
          <p:cNvSpPr>
            <a:spLocks noGrp="1"/>
          </p:cNvSpPr>
          <p:nvPr/>
        </p:nvSpPr>
        <p:spPr>
          <a:xfrm>
            <a:off x="3276600" y="38671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Read-only operation, source inspection, user-scoped memory, and no Evaluation Oracle data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CD7F296-E104-40B0-BF38-251A6B08111C}"/>
              </a:ext>
            </a:extLst>
          </p:cNvPr>
          <p:cNvSpPr>
            <a:spLocks noGrp="1"/>
          </p:cNvSpPr>
          <p:nvPr/>
        </p:nvSpPr>
        <p:spPr>
          <a:xfrm>
            <a:off x="1371600" y="4572000"/>
            <a:ext cx="9715500" cy="0"/>
          </a:xfrm>
          <a:prstGeom prst="line">
            <a:avLst/>
          </a:prstGeom>
          <a:noFill/>
          <a:ln w="9525">
            <a:solidFill>
              <a:srgbClr val="C8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AB115-2132-4F68-9CD0-AE94DE0B54CE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E86C5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86C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0C750E-CFF3-4602-B1F9-067150E1AB5C}"/>
              </a:ext>
            </a:extLst>
          </p:cNvPr>
          <p:cNvSpPr>
            <a:spLocks noGrp="1"/>
          </p:cNvSpPr>
          <p:nvPr/>
        </p:nvSpPr>
        <p:spPr>
          <a:xfrm>
            <a:off x="1371600" y="48387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B310AF-3824-4DC3-8B3F-694F186FA926}"/>
              </a:ext>
            </a:extLst>
          </p:cNvPr>
          <p:cNvSpPr>
            <a:spLocks noGrp="1"/>
          </p:cNvSpPr>
          <p:nvPr/>
        </p:nvSpPr>
        <p:spPr>
          <a:xfrm>
            <a:off x="3276600" y="48387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Expand only after the pilot meets the evidence, usability, and safety measures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365983-89E2-4C07-98BE-5263F4E9A0E8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Pilot objective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FDAF98-F98B-4A96-9164-F0B4D6B5D3EF}"/>
              </a:ext>
            </a:extLst>
          </p:cNvPr>
          <p:cNvSpPr>
            <a:spLocks noGrp="1"/>
          </p:cNvSpPr>
          <p:nvPr/>
        </p:nvSpPr>
        <p:spPr>
          <a:xfrm>
            <a:off x="2400300" y="5848350"/>
            <a:ext cx="8667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 i="0">
                <a:solidFill>
                  <a:srgbClr val="1420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01D"/>
                </a:solidFill>
                <a:latin typeface="Arial"/>
                <a:ea typeface="Arial"/>
                <a:cs typeface="Arial"/>
              </a:rPr>
              <a:t>Show that a small team can reach a supported answer faster while preserving source review and employee judgment.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815BD6-688D-42F4-A8F3-BF078D7B969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2706B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2706B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9D438F-FF92-4371-BBD9-CD94D59A983E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26D5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26D5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592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875D90-DF6F-48BB-ADF8-F48184F8014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CLOSING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387838-BBF7-4788-8EC7-85ECFFEB66EE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9810750" cy="1466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context should be reusable, inspectable, and personal to the employee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09C62-8B9F-480C-8E7A-4E1E4BC75D3B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88582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 i="0">
                <a:solidFill>
                  <a:srgbClr val="D8E2D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8E2DD"/>
                </a:solidFill>
                <a:latin typeface="Arial"/>
                <a:ea typeface="Arial"/>
                <a:cs typeface="Arial"/>
              </a:rPr>
              <a:t>The current MVP demonstrates that foundation now. It gives Stellar Ark AI a credible path to reduce search time first, then extend the same controlled operating model into meeting follow-up and recruiting.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2A51A94-8C0E-4688-BF8F-4E01E5020924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7810500" cy="0"/>
          </a:xfrm>
          <a:prstGeom prst="line">
            <a:avLst/>
          </a:prstGeom>
          <a:noFill/>
          <a:ln w="38100">
            <a:solidFill>
              <a:srgbClr val="E86C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F6C21-E8A0-4E7C-8812-C216CF337D3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Proposed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195C5-2C8A-48BA-AAA1-1E0950C30D6B}"/>
              </a:ext>
            </a:extLst>
          </p:cNvPr>
          <p:cNvSpPr>
            <a:spLocks noGrp="1"/>
          </p:cNvSpPr>
          <p:nvPr/>
        </p:nvSpPr>
        <p:spPr>
          <a:xfrm>
            <a:off x="2781300" y="52959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a bounded MVP pilot and measure the evidence workflow before expanding scope.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D4CF7E-625C-4763-BA29-D8F772A85F0B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5334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github.com/joshualumzy/personal_agent_long_context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B521D8-EE3F-4165-8C44-C1337C1CD6D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SME OPERATING 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98742-27BF-4A8C-A55C-B7974C0F3FAF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CC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CCB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16348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1238</Words>
  <Application>Microsoft Macintosh PowerPoint</Application>
  <DocSecurity>0</DocSecurity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VRmemory CS4240</cp:lastModifiedBy>
  <cp:revision>2</cp:revision>
  <dcterms:created xsi:type="dcterms:W3CDTF">2026-09-27T11:32:42Z</dcterms:created>
  <dcterms:modified xsi:type="dcterms:W3CDTF">2026-09-27T13:17:16Z</dcterms:modified>
</cp:coreProperties>
</file>